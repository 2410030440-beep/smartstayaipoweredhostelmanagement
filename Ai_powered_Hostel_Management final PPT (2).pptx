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Muli" panose="020B0604020202020204" charset="0"/>
      <p:regular r:id="rId9"/>
    </p:embeddedFont>
    <p:embeddedFont>
      <p:font typeface="Muli Bold" panose="020B0604020202020204" charset="0"/>
      <p:regular r:id="rId10"/>
    </p:embeddedFont>
    <p:embeddedFont>
      <p:font typeface="Muli Ultra-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22" autoAdjust="0"/>
  </p:normalViewPr>
  <p:slideViewPr>
    <p:cSldViewPr>
      <p:cViewPr varScale="1">
        <p:scale>
          <a:sx n="49" d="100"/>
          <a:sy n="49" d="100"/>
        </p:scale>
        <p:origin x="101" y="12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Freeform 2"/>
          <p:cNvSpPr/>
          <p:nvPr/>
        </p:nvSpPr>
        <p:spPr>
          <a:xfrm>
            <a:off x="-207175" y="6941125"/>
            <a:ext cx="7590520" cy="3345875"/>
          </a:xfrm>
          <a:custGeom>
            <a:avLst/>
            <a:gdLst/>
            <a:ahLst/>
            <a:cxnLst/>
            <a:rect l="l" t="t" r="r" b="b"/>
            <a:pathLst>
              <a:path w="7590520" h="3345875">
                <a:moveTo>
                  <a:pt x="0" y="0"/>
                </a:moveTo>
                <a:lnTo>
                  <a:pt x="7590520" y="0"/>
                </a:lnTo>
                <a:lnTo>
                  <a:pt x="7590520" y="3345875"/>
                </a:lnTo>
                <a:lnTo>
                  <a:pt x="0" y="334587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0697480" y="0"/>
            <a:ext cx="7590520" cy="3345875"/>
          </a:xfrm>
          <a:custGeom>
            <a:avLst/>
            <a:gdLst/>
            <a:ahLst/>
            <a:cxnLst/>
            <a:rect l="l" t="t" r="r" b="b"/>
            <a:pathLst>
              <a:path w="7590520" h="3345875">
                <a:moveTo>
                  <a:pt x="7590520" y="3345875"/>
                </a:moveTo>
                <a:lnTo>
                  <a:pt x="0" y="3345875"/>
                </a:lnTo>
                <a:lnTo>
                  <a:pt x="0" y="0"/>
                </a:lnTo>
                <a:lnTo>
                  <a:pt x="7590520" y="0"/>
                </a:lnTo>
                <a:lnTo>
                  <a:pt x="7590520" y="3345875"/>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414507" y="-6721593"/>
            <a:ext cx="14081576" cy="14328946"/>
            <a:chOff x="0" y="0"/>
            <a:chExt cx="18775435" cy="19105262"/>
          </a:xfrm>
        </p:grpSpPr>
        <p:grpSp>
          <p:nvGrpSpPr>
            <p:cNvPr id="5" name="Group 5"/>
            <p:cNvGrpSpPr/>
            <p:nvPr/>
          </p:nvGrpSpPr>
          <p:grpSpPr>
            <a:xfrm rot="-4029521">
              <a:off x="-439874" y="6301441"/>
              <a:ext cx="15736054" cy="8000082"/>
              <a:chOff x="0" y="0"/>
              <a:chExt cx="2428403" cy="1234580"/>
            </a:xfrm>
          </p:grpSpPr>
          <p:sp>
            <p:nvSpPr>
              <p:cNvPr id="6" name="Freeform 6"/>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7" name="TextBox 7"/>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90957">
              <a:off x="2037272" y="8866899"/>
              <a:ext cx="16242519" cy="1219946"/>
              <a:chOff x="0" y="0"/>
              <a:chExt cx="2061456" cy="154832"/>
            </a:xfrm>
          </p:grpSpPr>
          <p:sp>
            <p:nvSpPr>
              <p:cNvPr id="9" name="Freeform 9"/>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10" name="TextBox 10"/>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875618">
              <a:off x="627890" y="4520664"/>
              <a:ext cx="15736054" cy="8000082"/>
              <a:chOff x="0" y="0"/>
              <a:chExt cx="2428403" cy="1234580"/>
            </a:xfrm>
          </p:grpSpPr>
          <p:sp>
            <p:nvSpPr>
              <p:cNvPr id="12" name="Freeform 12"/>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13" name="TextBox 13"/>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3737466">
              <a:off x="-27669" y="5476831"/>
              <a:ext cx="15736054" cy="8000082"/>
              <a:chOff x="0" y="0"/>
              <a:chExt cx="2428403" cy="1234580"/>
            </a:xfrm>
          </p:grpSpPr>
          <p:sp>
            <p:nvSpPr>
              <p:cNvPr id="15" name="Freeform 15"/>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16" name="TextBox 16"/>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1639264">
              <a:off x="1598798" y="3816229"/>
              <a:ext cx="15736054" cy="8000082"/>
              <a:chOff x="0" y="0"/>
              <a:chExt cx="2428403" cy="1234580"/>
            </a:xfrm>
          </p:grpSpPr>
          <p:sp>
            <p:nvSpPr>
              <p:cNvPr id="18" name="Freeform 18"/>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19" name="TextBox 19"/>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673135">
              <a:off x="610517" y="2497408"/>
              <a:ext cx="17554400" cy="8000082"/>
              <a:chOff x="0" y="0"/>
              <a:chExt cx="2709012" cy="1234580"/>
            </a:xfrm>
          </p:grpSpPr>
          <p:sp>
            <p:nvSpPr>
              <p:cNvPr id="21" name="Freeform 21"/>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22" name="TextBox 22"/>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grpSp>
        <p:nvGrpSpPr>
          <p:cNvPr id="23" name="Group 23"/>
          <p:cNvGrpSpPr/>
          <p:nvPr/>
        </p:nvGrpSpPr>
        <p:grpSpPr>
          <a:xfrm>
            <a:off x="11620932" y="2679647"/>
            <a:ext cx="14081576" cy="14328946"/>
            <a:chOff x="0" y="0"/>
            <a:chExt cx="18775435" cy="19105262"/>
          </a:xfrm>
        </p:grpSpPr>
        <p:grpSp>
          <p:nvGrpSpPr>
            <p:cNvPr id="24" name="Group 24"/>
            <p:cNvGrpSpPr/>
            <p:nvPr/>
          </p:nvGrpSpPr>
          <p:grpSpPr>
            <a:xfrm rot="6770478">
              <a:off x="3479254" y="4803740"/>
              <a:ext cx="15736054" cy="8000082"/>
              <a:chOff x="0" y="0"/>
              <a:chExt cx="2428403" cy="1234580"/>
            </a:xfrm>
          </p:grpSpPr>
          <p:sp>
            <p:nvSpPr>
              <p:cNvPr id="25" name="Freeform 25"/>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26" name="TextBox 26"/>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10709042">
              <a:off x="495643" y="9018417"/>
              <a:ext cx="16242519" cy="1219946"/>
              <a:chOff x="0" y="0"/>
              <a:chExt cx="2061456" cy="154832"/>
            </a:xfrm>
          </p:grpSpPr>
          <p:sp>
            <p:nvSpPr>
              <p:cNvPr id="28" name="Freeform 28"/>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9" name="TextBox 29"/>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rot="7924381">
              <a:off x="2411490" y="6584516"/>
              <a:ext cx="15736054" cy="8000082"/>
              <a:chOff x="0" y="0"/>
              <a:chExt cx="2428403" cy="1234580"/>
            </a:xfrm>
          </p:grpSpPr>
          <p:sp>
            <p:nvSpPr>
              <p:cNvPr id="31" name="Freeform 31"/>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32" name="TextBox 32"/>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rot="7062533">
              <a:off x="3067050" y="5628349"/>
              <a:ext cx="15736054" cy="8000082"/>
              <a:chOff x="0" y="0"/>
              <a:chExt cx="2428403" cy="1234580"/>
            </a:xfrm>
          </p:grpSpPr>
          <p:sp>
            <p:nvSpPr>
              <p:cNvPr id="34" name="Freeform 34"/>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35" name="TextBox 35"/>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rot="9160735">
              <a:off x="1440582" y="7288951"/>
              <a:ext cx="15736054" cy="8000082"/>
              <a:chOff x="0" y="0"/>
              <a:chExt cx="2428403" cy="1234580"/>
            </a:xfrm>
          </p:grpSpPr>
          <p:sp>
            <p:nvSpPr>
              <p:cNvPr id="37" name="Freeform 37"/>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38" name="TextBox 38"/>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rot="10126864">
              <a:off x="610517" y="8607772"/>
              <a:ext cx="17554400" cy="8000082"/>
              <a:chOff x="0" y="0"/>
              <a:chExt cx="2709012" cy="1234580"/>
            </a:xfrm>
          </p:grpSpPr>
          <p:sp>
            <p:nvSpPr>
              <p:cNvPr id="40" name="Freeform 40"/>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41" name="TextBox 41"/>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grpSp>
        <p:nvGrpSpPr>
          <p:cNvPr id="42" name="Group 42"/>
          <p:cNvGrpSpPr/>
          <p:nvPr/>
        </p:nvGrpSpPr>
        <p:grpSpPr>
          <a:xfrm>
            <a:off x="6667068" y="5617057"/>
            <a:ext cx="4953863" cy="1097310"/>
            <a:chOff x="0" y="0"/>
            <a:chExt cx="6605151" cy="1463080"/>
          </a:xfrm>
        </p:grpSpPr>
        <p:sp>
          <p:nvSpPr>
            <p:cNvPr id="43" name="Freeform 43"/>
            <p:cNvSpPr/>
            <p:nvPr/>
          </p:nvSpPr>
          <p:spPr>
            <a:xfrm>
              <a:off x="0" y="0"/>
              <a:ext cx="1201290" cy="941375"/>
            </a:xfrm>
            <a:custGeom>
              <a:avLst/>
              <a:gdLst/>
              <a:ahLst/>
              <a:cxnLst/>
              <a:rect l="l" t="t" r="r" b="b"/>
              <a:pathLst>
                <a:path w="1201290" h="941375">
                  <a:moveTo>
                    <a:pt x="0" y="0"/>
                  </a:moveTo>
                  <a:lnTo>
                    <a:pt x="1201290" y="0"/>
                  </a:lnTo>
                  <a:lnTo>
                    <a:pt x="1201290" y="941375"/>
                  </a:lnTo>
                  <a:lnTo>
                    <a:pt x="0" y="94137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4" name="Freeform 44"/>
            <p:cNvSpPr/>
            <p:nvPr/>
          </p:nvSpPr>
          <p:spPr>
            <a:xfrm flipH="1" flipV="1">
              <a:off x="5403861" y="521706"/>
              <a:ext cx="1201290" cy="941375"/>
            </a:xfrm>
            <a:custGeom>
              <a:avLst/>
              <a:gdLst/>
              <a:ahLst/>
              <a:cxnLst/>
              <a:rect l="l" t="t" r="r" b="b"/>
              <a:pathLst>
                <a:path w="1201290" h="941375">
                  <a:moveTo>
                    <a:pt x="1201290" y="941374"/>
                  </a:moveTo>
                  <a:lnTo>
                    <a:pt x="0" y="941374"/>
                  </a:lnTo>
                  <a:lnTo>
                    <a:pt x="0" y="0"/>
                  </a:lnTo>
                  <a:lnTo>
                    <a:pt x="1201290" y="0"/>
                  </a:lnTo>
                  <a:lnTo>
                    <a:pt x="1201290" y="941374"/>
                  </a:lnTo>
                  <a:close/>
                </a:path>
              </a:pathLst>
            </a:custGeom>
            <a:blipFill>
              <a:blip>
                <a:extLst>
                  <a:ext uri="{96DAC541-7B7A-43D3-8B79-37D633B846F1}">
                    <asvg:svgBlip xmlns:asvg="http://schemas.microsoft.com/office/drawing/2016/SVG/main" r:embed="rId3"/>
                  </a:ext>
                </a:extLst>
              </a:blip>
              <a:stretch>
                <a:fillRect/>
              </a:stretch>
            </a:blipFill>
          </p:spPr>
        </p:sp>
        <p:grpSp>
          <p:nvGrpSpPr>
            <p:cNvPr id="45" name="Group 45"/>
            <p:cNvGrpSpPr/>
            <p:nvPr/>
          </p:nvGrpSpPr>
          <p:grpSpPr>
            <a:xfrm>
              <a:off x="296887" y="239044"/>
              <a:ext cx="6011377" cy="941125"/>
              <a:chOff x="0" y="0"/>
              <a:chExt cx="927682" cy="145235"/>
            </a:xfrm>
          </p:grpSpPr>
          <p:sp>
            <p:nvSpPr>
              <p:cNvPr id="46" name="Freeform 46"/>
              <p:cNvSpPr/>
              <p:nvPr/>
            </p:nvSpPr>
            <p:spPr>
              <a:xfrm>
                <a:off x="0" y="0"/>
                <a:ext cx="927682" cy="145235"/>
              </a:xfrm>
              <a:custGeom>
                <a:avLst/>
                <a:gdLst/>
                <a:ahLst/>
                <a:cxnLst/>
                <a:rect l="l" t="t" r="r" b="b"/>
                <a:pathLst>
                  <a:path w="927682" h="145235">
                    <a:moveTo>
                      <a:pt x="0" y="0"/>
                    </a:moveTo>
                    <a:lnTo>
                      <a:pt x="927682" y="0"/>
                    </a:lnTo>
                    <a:lnTo>
                      <a:pt x="927682" y="145235"/>
                    </a:lnTo>
                    <a:lnTo>
                      <a:pt x="0" y="145235"/>
                    </a:lnTo>
                    <a:close/>
                  </a:path>
                </a:pathLst>
              </a:custGeom>
              <a:solidFill>
                <a:srgbClr val="77E8FF">
                  <a:alpha val="10980"/>
                </a:srgbClr>
              </a:solidFill>
            </p:spPr>
          </p:sp>
          <p:sp>
            <p:nvSpPr>
              <p:cNvPr id="47" name="TextBox 47"/>
              <p:cNvSpPr txBox="1"/>
              <p:nvPr/>
            </p:nvSpPr>
            <p:spPr>
              <a:xfrm>
                <a:off x="0" y="-38100"/>
                <a:ext cx="927682" cy="183335"/>
              </a:xfrm>
              <a:prstGeom prst="rect">
                <a:avLst/>
              </a:prstGeom>
            </p:spPr>
            <p:txBody>
              <a:bodyPr lIns="50800" tIns="50800" rIns="50800" bIns="50800" rtlCol="0" anchor="ctr"/>
              <a:lstStyle/>
              <a:p>
                <a:pPr algn="ctr">
                  <a:lnSpc>
                    <a:spcPts val="2659"/>
                  </a:lnSpc>
                </a:pPr>
                <a:endParaRPr/>
              </a:p>
            </p:txBody>
          </p:sp>
        </p:grpSp>
      </p:grpSp>
      <p:sp>
        <p:nvSpPr>
          <p:cNvPr id="48" name="TextBox 48"/>
          <p:cNvSpPr txBox="1"/>
          <p:nvPr/>
        </p:nvSpPr>
        <p:spPr>
          <a:xfrm>
            <a:off x="1028700" y="1383090"/>
            <a:ext cx="14318314" cy="2192655"/>
          </a:xfrm>
          <a:prstGeom prst="rect">
            <a:avLst/>
          </a:prstGeom>
        </p:spPr>
        <p:txBody>
          <a:bodyPr lIns="0" tIns="0" rIns="0" bIns="0" rtlCol="0" anchor="t">
            <a:spAutoFit/>
          </a:bodyPr>
          <a:lstStyle/>
          <a:p>
            <a:pPr algn="ctr">
              <a:lnSpc>
                <a:spcPts val="8819"/>
              </a:lnSpc>
            </a:pPr>
            <a:r>
              <a:rPr lang="en-US" sz="6299" b="1">
                <a:solidFill>
                  <a:srgbClr val="113E7A"/>
                </a:solidFill>
                <a:latin typeface="Muli Ultra-Bold"/>
                <a:ea typeface="Muli Ultra-Bold"/>
                <a:cs typeface="Muli Ultra-Bold"/>
                <a:sym typeface="Muli Ultra-Bold"/>
              </a:rPr>
              <a:t>SMARTSTAY – AI-POWERED HOSTEL MANAGEMENT PLATFORM</a:t>
            </a:r>
          </a:p>
        </p:txBody>
      </p:sp>
      <p:sp>
        <p:nvSpPr>
          <p:cNvPr id="49" name="TextBox 49"/>
          <p:cNvSpPr txBox="1"/>
          <p:nvPr/>
        </p:nvSpPr>
        <p:spPr>
          <a:xfrm>
            <a:off x="778432" y="4396105"/>
            <a:ext cx="13714308" cy="6833858"/>
          </a:xfrm>
          <a:prstGeom prst="rect">
            <a:avLst/>
          </a:prstGeom>
        </p:spPr>
        <p:txBody>
          <a:bodyPr lIns="0" tIns="0" rIns="0" bIns="0" rtlCol="0" anchor="t">
            <a:spAutoFit/>
          </a:bodyPr>
          <a:lstStyle/>
          <a:p>
            <a:pPr algn="l">
              <a:lnSpc>
                <a:spcPts val="7699"/>
              </a:lnSpc>
            </a:pPr>
            <a:r>
              <a:rPr lang="en-US" sz="5499" b="1" dirty="0">
                <a:solidFill>
                  <a:srgbClr val="113E7A"/>
                </a:solidFill>
                <a:latin typeface="Muli Bold"/>
                <a:ea typeface="Muli Bold"/>
                <a:cs typeface="Muli Bold"/>
                <a:sym typeface="Muli Bold"/>
              </a:rPr>
              <a:t>2410030440-V Cherishma</a:t>
            </a:r>
          </a:p>
          <a:p>
            <a:pPr algn="l">
              <a:lnSpc>
                <a:spcPts val="7699"/>
              </a:lnSpc>
            </a:pPr>
            <a:r>
              <a:rPr lang="en-US" sz="5499" b="1" dirty="0">
                <a:solidFill>
                  <a:srgbClr val="113E7A"/>
                </a:solidFill>
                <a:latin typeface="Muli Bold"/>
                <a:ea typeface="Muli Bold"/>
                <a:cs typeface="Muli Bold"/>
                <a:sym typeface="Muli Bold"/>
              </a:rPr>
              <a:t>2410030349- </a:t>
            </a:r>
            <a:r>
              <a:rPr lang="en-US" sz="5499" b="1" dirty="0" err="1">
                <a:solidFill>
                  <a:srgbClr val="113E7A"/>
                </a:solidFill>
                <a:latin typeface="Muli Bold"/>
                <a:ea typeface="Muli Bold"/>
                <a:cs typeface="Muli Bold"/>
                <a:sym typeface="Muli Bold"/>
              </a:rPr>
              <a:t>Anugoju</a:t>
            </a:r>
            <a:r>
              <a:rPr lang="en-US" sz="5499" b="1" dirty="0">
                <a:solidFill>
                  <a:srgbClr val="113E7A"/>
                </a:solidFill>
                <a:latin typeface="Muli Bold"/>
                <a:ea typeface="Muli Bold"/>
                <a:cs typeface="Muli Bold"/>
                <a:sym typeface="Muli Bold"/>
              </a:rPr>
              <a:t> Srija</a:t>
            </a:r>
          </a:p>
          <a:p>
            <a:pPr algn="l">
              <a:lnSpc>
                <a:spcPts val="7699"/>
              </a:lnSpc>
            </a:pPr>
            <a:r>
              <a:rPr lang="en-US" sz="5499" b="1" dirty="0">
                <a:solidFill>
                  <a:srgbClr val="113E7A"/>
                </a:solidFill>
                <a:latin typeface="Muli Bold"/>
                <a:ea typeface="Muli Bold"/>
                <a:cs typeface="Muli Bold"/>
                <a:sym typeface="Muli Bold"/>
              </a:rPr>
              <a:t>2410030279-Lakshmi </a:t>
            </a:r>
            <a:r>
              <a:rPr lang="en-US" sz="5499" b="1" dirty="0" err="1">
                <a:solidFill>
                  <a:srgbClr val="113E7A"/>
                </a:solidFill>
                <a:latin typeface="Muli Bold"/>
                <a:ea typeface="Muli Bold"/>
                <a:cs typeface="Muli Bold"/>
                <a:sym typeface="Muli Bold"/>
              </a:rPr>
              <a:t>sri</a:t>
            </a:r>
            <a:endParaRPr lang="en-US" sz="5499" b="1" dirty="0">
              <a:solidFill>
                <a:srgbClr val="113E7A"/>
              </a:solidFill>
              <a:latin typeface="Muli Bold"/>
              <a:ea typeface="Muli Bold"/>
              <a:cs typeface="Muli Bold"/>
              <a:sym typeface="Muli Bold"/>
            </a:endParaRPr>
          </a:p>
          <a:p>
            <a:pPr algn="l">
              <a:lnSpc>
                <a:spcPts val="7699"/>
              </a:lnSpc>
            </a:pPr>
            <a:r>
              <a:rPr lang="en-US" sz="5499" b="1" dirty="0">
                <a:solidFill>
                  <a:srgbClr val="113E7A"/>
                </a:solidFill>
                <a:latin typeface="Muli Bold"/>
                <a:ea typeface="Muli Bold"/>
                <a:cs typeface="Muli Bold"/>
                <a:sym typeface="Muli Bold"/>
              </a:rPr>
              <a:t>2410030278-S.Amrutha</a:t>
            </a:r>
          </a:p>
          <a:p>
            <a:pPr algn="l">
              <a:lnSpc>
                <a:spcPts val="7699"/>
              </a:lnSpc>
            </a:pPr>
            <a:r>
              <a:rPr lang="en-US" sz="5499" b="1" dirty="0">
                <a:solidFill>
                  <a:srgbClr val="113E7A"/>
                </a:solidFill>
                <a:latin typeface="Muli Bold"/>
                <a:ea typeface="Muli Bold"/>
                <a:cs typeface="Muli Bold"/>
                <a:sym typeface="Muli Bold"/>
              </a:rPr>
              <a:t>2410030121-Nelabotla Abhinaya Mohita</a:t>
            </a:r>
          </a:p>
          <a:p>
            <a:pPr algn="l">
              <a:lnSpc>
                <a:spcPts val="7699"/>
              </a:lnSpc>
            </a:pPr>
            <a:r>
              <a:rPr lang="en-US" sz="5499" b="1">
                <a:solidFill>
                  <a:srgbClr val="113E7A"/>
                </a:solidFill>
                <a:latin typeface="Muli Bold"/>
                <a:ea typeface="Muli Bold"/>
                <a:cs typeface="Muli Bold"/>
                <a:sym typeface="Muli Bold"/>
              </a:rPr>
              <a:t>2410030260- Sruthika Santosh </a:t>
            </a:r>
          </a:p>
          <a:p>
            <a:pPr algn="ctr">
              <a:lnSpc>
                <a:spcPts val="7699"/>
              </a:lnSpc>
              <a:spcBef>
                <a:spcPct val="0"/>
              </a:spcBef>
            </a:pPr>
            <a:endParaRPr lang="en-US" sz="5499" b="1" dirty="0">
              <a:solidFill>
                <a:srgbClr val="113E7A"/>
              </a:solidFill>
              <a:latin typeface="Muli Bold"/>
              <a:ea typeface="Muli Bold"/>
              <a:cs typeface="Muli Bold"/>
              <a:sym typeface="Muli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9712745" y="1716788"/>
            <a:ext cx="18526227" cy="18206396"/>
            <a:chOff x="0" y="0"/>
            <a:chExt cx="24701635" cy="24275194"/>
          </a:xfrm>
        </p:grpSpPr>
        <p:grpSp>
          <p:nvGrpSpPr>
            <p:cNvPr id="3" name="Group 3"/>
            <p:cNvGrpSpPr/>
            <p:nvPr/>
          </p:nvGrpSpPr>
          <p:grpSpPr>
            <a:xfrm rot="-9429521">
              <a:off x="3146270" y="9499417"/>
              <a:ext cx="20345509" cy="10343491"/>
              <a:chOff x="0" y="0"/>
              <a:chExt cx="2428403" cy="1234580"/>
            </a:xfrm>
          </p:grpSpPr>
          <p:sp>
            <p:nvSpPr>
              <p:cNvPr id="4" name="Freeform 4"/>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5" name="TextBox 5"/>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6" name="Group 6"/>
            <p:cNvGrpSpPr/>
            <p:nvPr/>
          </p:nvGrpSpPr>
          <p:grpSpPr>
            <a:xfrm rot="-5490957">
              <a:off x="1752702" y="10352345"/>
              <a:ext cx="21000330" cy="1577296"/>
              <a:chOff x="0" y="0"/>
              <a:chExt cx="2061456" cy="154832"/>
            </a:xfrm>
          </p:grpSpPr>
          <p:sp>
            <p:nvSpPr>
              <p:cNvPr id="7" name="Freeform 7"/>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8" name="TextBox 8"/>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9" name="Group 9"/>
            <p:cNvGrpSpPr/>
            <p:nvPr/>
          </p:nvGrpSpPr>
          <p:grpSpPr>
            <a:xfrm rot="-8275618">
              <a:off x="843863" y="8118880"/>
              <a:ext cx="20345509" cy="10343491"/>
              <a:chOff x="0" y="0"/>
              <a:chExt cx="2428403" cy="1234580"/>
            </a:xfrm>
          </p:grpSpPr>
          <p:sp>
            <p:nvSpPr>
              <p:cNvPr id="10" name="Freeform 10"/>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11" name="TextBox 11"/>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2" name="Group 12"/>
            <p:cNvGrpSpPr/>
            <p:nvPr/>
          </p:nvGrpSpPr>
          <p:grpSpPr>
            <a:xfrm rot="-9137466">
              <a:off x="2080113" y="8966468"/>
              <a:ext cx="20345509" cy="10343491"/>
              <a:chOff x="0" y="0"/>
              <a:chExt cx="2428403" cy="1234580"/>
            </a:xfrm>
          </p:grpSpPr>
          <p:sp>
            <p:nvSpPr>
              <p:cNvPr id="13" name="Freeform 1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5" name="Group 15"/>
            <p:cNvGrpSpPr/>
            <p:nvPr/>
          </p:nvGrpSpPr>
          <p:grpSpPr>
            <a:xfrm rot="-7039264">
              <a:off x="-66918" y="6863571"/>
              <a:ext cx="20345509" cy="10343491"/>
              <a:chOff x="0" y="0"/>
              <a:chExt cx="2428403" cy="1234580"/>
            </a:xfrm>
          </p:grpSpPr>
          <p:sp>
            <p:nvSpPr>
              <p:cNvPr id="16" name="Freeform 16"/>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17" name="TextBox 17"/>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8" name="Group 18"/>
            <p:cNvGrpSpPr/>
            <p:nvPr/>
          </p:nvGrpSpPr>
          <p:grpSpPr>
            <a:xfrm rot="-6073135">
              <a:off x="-2947544" y="6965852"/>
              <a:ext cx="22696491" cy="10343491"/>
              <a:chOff x="0" y="0"/>
              <a:chExt cx="2709012" cy="1234580"/>
            </a:xfrm>
          </p:grpSpPr>
          <p:sp>
            <p:nvSpPr>
              <p:cNvPr id="19" name="Freeform 19"/>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20" name="TextBox 20"/>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grpSp>
        <p:nvGrpSpPr>
          <p:cNvPr id="21" name="Group 21"/>
          <p:cNvGrpSpPr/>
          <p:nvPr/>
        </p:nvGrpSpPr>
        <p:grpSpPr>
          <a:xfrm>
            <a:off x="9474518" y="-9636184"/>
            <a:ext cx="18526227" cy="18206396"/>
            <a:chOff x="0" y="0"/>
            <a:chExt cx="24701635" cy="24275194"/>
          </a:xfrm>
        </p:grpSpPr>
        <p:grpSp>
          <p:nvGrpSpPr>
            <p:cNvPr id="22" name="Group 22"/>
            <p:cNvGrpSpPr/>
            <p:nvPr/>
          </p:nvGrpSpPr>
          <p:grpSpPr>
            <a:xfrm rot="1370478">
              <a:off x="1209857" y="4432286"/>
              <a:ext cx="20345509" cy="10343491"/>
              <a:chOff x="0" y="0"/>
              <a:chExt cx="2428403" cy="1234580"/>
            </a:xfrm>
          </p:grpSpPr>
          <p:sp>
            <p:nvSpPr>
              <p:cNvPr id="23" name="Freeform 2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24" name="TextBox 2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25" name="Group 25"/>
            <p:cNvGrpSpPr/>
            <p:nvPr/>
          </p:nvGrpSpPr>
          <p:grpSpPr>
            <a:xfrm rot="5309042">
              <a:off x="1948604" y="12345553"/>
              <a:ext cx="21000330" cy="1577296"/>
              <a:chOff x="0" y="0"/>
              <a:chExt cx="2061456" cy="154832"/>
            </a:xfrm>
          </p:grpSpPr>
          <p:sp>
            <p:nvSpPr>
              <p:cNvPr id="26" name="Freeform 26"/>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7" name="TextBox 27"/>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28" name="Group 28"/>
            <p:cNvGrpSpPr/>
            <p:nvPr/>
          </p:nvGrpSpPr>
          <p:grpSpPr>
            <a:xfrm rot="2524381">
              <a:off x="3512264" y="5812823"/>
              <a:ext cx="20345509" cy="10343491"/>
              <a:chOff x="0" y="0"/>
              <a:chExt cx="2428403" cy="1234580"/>
            </a:xfrm>
          </p:grpSpPr>
          <p:sp>
            <p:nvSpPr>
              <p:cNvPr id="29" name="Freeform 29"/>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30" name="TextBox 30"/>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1" name="Group 31"/>
            <p:cNvGrpSpPr/>
            <p:nvPr/>
          </p:nvGrpSpPr>
          <p:grpSpPr>
            <a:xfrm rot="1662533">
              <a:off x="2276014" y="4965235"/>
              <a:ext cx="20345509" cy="10343491"/>
              <a:chOff x="0" y="0"/>
              <a:chExt cx="2428403" cy="1234580"/>
            </a:xfrm>
          </p:grpSpPr>
          <p:sp>
            <p:nvSpPr>
              <p:cNvPr id="32" name="Freeform 32"/>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33" name="TextBox 33"/>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4" name="Group 34"/>
            <p:cNvGrpSpPr/>
            <p:nvPr/>
          </p:nvGrpSpPr>
          <p:grpSpPr>
            <a:xfrm rot="3760735">
              <a:off x="4423045" y="7068132"/>
              <a:ext cx="20345509" cy="10343491"/>
              <a:chOff x="0" y="0"/>
              <a:chExt cx="2428403" cy="1234580"/>
            </a:xfrm>
          </p:grpSpPr>
          <p:sp>
            <p:nvSpPr>
              <p:cNvPr id="35" name="Freeform 35"/>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36" name="TextBox 36"/>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7" name="Group 37"/>
            <p:cNvGrpSpPr/>
            <p:nvPr/>
          </p:nvGrpSpPr>
          <p:grpSpPr>
            <a:xfrm rot="4726864">
              <a:off x="4952688" y="6965852"/>
              <a:ext cx="22696491" cy="10343491"/>
              <a:chOff x="0" y="0"/>
              <a:chExt cx="2709012" cy="1234580"/>
            </a:xfrm>
          </p:grpSpPr>
          <p:sp>
            <p:nvSpPr>
              <p:cNvPr id="38" name="Freeform 38"/>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39" name="TextBox 39"/>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sp>
        <p:nvSpPr>
          <p:cNvPr id="40" name="Freeform 40"/>
          <p:cNvSpPr/>
          <p:nvPr/>
        </p:nvSpPr>
        <p:spPr>
          <a:xfrm flipH="1">
            <a:off x="13332174" y="8570212"/>
            <a:ext cx="7315200" cy="2958662"/>
          </a:xfrm>
          <a:custGeom>
            <a:avLst/>
            <a:gdLst/>
            <a:ahLst/>
            <a:cxnLst/>
            <a:rect l="l" t="t" r="r" b="b"/>
            <a:pathLst>
              <a:path w="7315200" h="2958662">
                <a:moveTo>
                  <a:pt x="7315200" y="0"/>
                </a:moveTo>
                <a:lnTo>
                  <a:pt x="0" y="0"/>
                </a:lnTo>
                <a:lnTo>
                  <a:pt x="0" y="2958662"/>
                </a:lnTo>
                <a:lnTo>
                  <a:pt x="7315200" y="2958662"/>
                </a:lnTo>
                <a:lnTo>
                  <a:pt x="7315200" y="0"/>
                </a:lnTo>
                <a:close/>
              </a:path>
            </a:pathLst>
          </a:custGeom>
          <a:blipFill>
            <a:blip>
              <a:extLst>
                <a:ext uri="{96DAC541-7B7A-43D3-8B79-37D633B846F1}">
                  <asvg:svgBlip xmlns:asvg="http://schemas.microsoft.com/office/drawing/2016/SVG/main" r:embed="rId2"/>
                </a:ext>
              </a:extLst>
            </a:blip>
            <a:stretch>
              <a:fillRect/>
            </a:stretch>
          </a:blipFill>
        </p:spPr>
      </p:sp>
      <p:sp>
        <p:nvSpPr>
          <p:cNvPr id="41" name="Freeform 41"/>
          <p:cNvSpPr/>
          <p:nvPr/>
        </p:nvSpPr>
        <p:spPr>
          <a:xfrm flipV="1">
            <a:off x="-2359374" y="-1241874"/>
            <a:ext cx="7315200" cy="2958662"/>
          </a:xfrm>
          <a:custGeom>
            <a:avLst/>
            <a:gdLst/>
            <a:ahLst/>
            <a:cxnLst/>
            <a:rect l="l" t="t" r="r" b="b"/>
            <a:pathLst>
              <a:path w="7315200" h="2958662">
                <a:moveTo>
                  <a:pt x="0" y="2958662"/>
                </a:moveTo>
                <a:lnTo>
                  <a:pt x="7315200" y="2958662"/>
                </a:lnTo>
                <a:lnTo>
                  <a:pt x="7315200" y="0"/>
                </a:lnTo>
                <a:lnTo>
                  <a:pt x="0" y="0"/>
                </a:lnTo>
                <a:lnTo>
                  <a:pt x="0" y="2958662"/>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2"/>
          <p:cNvSpPr txBox="1"/>
          <p:nvPr/>
        </p:nvSpPr>
        <p:spPr>
          <a:xfrm>
            <a:off x="1984843" y="617382"/>
            <a:ext cx="14318314" cy="1441451"/>
          </a:xfrm>
          <a:prstGeom prst="rect">
            <a:avLst/>
          </a:prstGeom>
        </p:spPr>
        <p:txBody>
          <a:bodyPr lIns="0" tIns="0" rIns="0" bIns="0" rtlCol="0" anchor="t">
            <a:spAutoFit/>
          </a:bodyPr>
          <a:lstStyle/>
          <a:p>
            <a:pPr marL="0" lvl="0" indent="0" algn="ctr">
              <a:lnSpc>
                <a:spcPts val="11899"/>
              </a:lnSpc>
              <a:spcBef>
                <a:spcPct val="0"/>
              </a:spcBef>
            </a:pPr>
            <a:r>
              <a:rPr lang="en-US" sz="8499" b="1">
                <a:solidFill>
                  <a:srgbClr val="113E7A"/>
                </a:solidFill>
                <a:latin typeface="Muli Ultra-Bold"/>
                <a:ea typeface="Muli Ultra-Bold"/>
                <a:cs typeface="Muli Ultra-Bold"/>
                <a:sym typeface="Muli Ultra-Bold"/>
              </a:rPr>
              <a:t>Abstraction</a:t>
            </a:r>
          </a:p>
        </p:txBody>
      </p:sp>
      <p:sp>
        <p:nvSpPr>
          <p:cNvPr id="43" name="TextBox 43"/>
          <p:cNvSpPr txBox="1"/>
          <p:nvPr/>
        </p:nvSpPr>
        <p:spPr>
          <a:xfrm>
            <a:off x="457070" y="3025017"/>
            <a:ext cx="17830930" cy="7003002"/>
          </a:xfrm>
          <a:prstGeom prst="rect">
            <a:avLst/>
          </a:prstGeom>
        </p:spPr>
        <p:txBody>
          <a:bodyPr lIns="0" tIns="0" rIns="0" bIns="0" rtlCol="0" anchor="t">
            <a:spAutoFit/>
          </a:bodyPr>
          <a:lstStyle/>
          <a:p>
            <a:pPr algn="ctr">
              <a:lnSpc>
                <a:spcPts val="5600"/>
              </a:lnSpc>
            </a:pPr>
            <a:r>
              <a:rPr lang="en-US" sz="4000">
                <a:solidFill>
                  <a:srgbClr val="0D2648"/>
                </a:solidFill>
                <a:latin typeface="Muli"/>
                <a:ea typeface="Muli"/>
                <a:cs typeface="Muli"/>
                <a:sym typeface="Muli"/>
              </a:rPr>
              <a:t>SmartStay is an AI-powered hostel management platform.  It connects students, wardens, and administrators through one centralized system.  Students can view room information, submit complaints, check notices, make payments, and raise maintenance requests.  Wardens can manage rooms, students, attendance, complaints, and maintenance.  Administrators can monitor hostel activities using dashboards, reports, and analytics.  AI/ML can analyze hostel data to predict occupancy, room demand, complaint trends, and maintenance requirements. The system reduces manual work and supports faster, data-driven</a:t>
            </a:r>
          </a:p>
          <a:p>
            <a:pPr algn="ctr">
              <a:lnSpc>
                <a:spcPts val="5600"/>
              </a:lnSpc>
            </a:pPr>
            <a:r>
              <a:rPr lang="en-US" sz="4000">
                <a:solidFill>
                  <a:srgbClr val="0D2648"/>
                </a:solidFill>
                <a:latin typeface="Muli"/>
                <a:ea typeface="Muli"/>
                <a:cs typeface="Muli"/>
                <a:sym typeface="Muli"/>
              </a:rPr>
              <a:t>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7414507" y="-6721593"/>
            <a:ext cx="14081576" cy="14328946"/>
            <a:chOff x="0" y="0"/>
            <a:chExt cx="18775435" cy="19105262"/>
          </a:xfrm>
        </p:grpSpPr>
        <p:grpSp>
          <p:nvGrpSpPr>
            <p:cNvPr id="3" name="Group 3"/>
            <p:cNvGrpSpPr/>
            <p:nvPr/>
          </p:nvGrpSpPr>
          <p:grpSpPr>
            <a:xfrm rot="-4029521">
              <a:off x="-439874" y="6301441"/>
              <a:ext cx="15736054" cy="8000082"/>
              <a:chOff x="0" y="0"/>
              <a:chExt cx="2428403" cy="1234580"/>
            </a:xfrm>
          </p:grpSpPr>
          <p:sp>
            <p:nvSpPr>
              <p:cNvPr id="4" name="Freeform 4"/>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5" name="TextBox 5"/>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90957">
              <a:off x="2037272" y="8866899"/>
              <a:ext cx="16242519" cy="1219946"/>
              <a:chOff x="0" y="0"/>
              <a:chExt cx="2061456" cy="154832"/>
            </a:xfrm>
          </p:grpSpPr>
          <p:sp>
            <p:nvSpPr>
              <p:cNvPr id="7" name="Freeform 7"/>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8" name="TextBox 8"/>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2875618">
              <a:off x="627890" y="4520664"/>
              <a:ext cx="15736054" cy="8000082"/>
              <a:chOff x="0" y="0"/>
              <a:chExt cx="2428403" cy="1234580"/>
            </a:xfrm>
          </p:grpSpPr>
          <p:sp>
            <p:nvSpPr>
              <p:cNvPr id="10" name="Freeform 10"/>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11" name="TextBox 11"/>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3737466">
              <a:off x="-27669" y="5476831"/>
              <a:ext cx="15736054" cy="8000082"/>
              <a:chOff x="0" y="0"/>
              <a:chExt cx="2428403" cy="1234580"/>
            </a:xfrm>
          </p:grpSpPr>
          <p:sp>
            <p:nvSpPr>
              <p:cNvPr id="13" name="Freeform 1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1639264">
              <a:off x="1598798" y="3816229"/>
              <a:ext cx="15736054" cy="8000082"/>
              <a:chOff x="0" y="0"/>
              <a:chExt cx="2428403" cy="1234580"/>
            </a:xfrm>
          </p:grpSpPr>
          <p:sp>
            <p:nvSpPr>
              <p:cNvPr id="16" name="Freeform 16"/>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17" name="TextBox 17"/>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673135">
              <a:off x="610517" y="2497408"/>
              <a:ext cx="17554400" cy="8000082"/>
              <a:chOff x="0" y="0"/>
              <a:chExt cx="2709012" cy="1234580"/>
            </a:xfrm>
          </p:grpSpPr>
          <p:sp>
            <p:nvSpPr>
              <p:cNvPr id="19" name="Freeform 19"/>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20" name="TextBox 20"/>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grpSp>
        <p:nvGrpSpPr>
          <p:cNvPr id="21" name="Group 21"/>
          <p:cNvGrpSpPr/>
          <p:nvPr/>
        </p:nvGrpSpPr>
        <p:grpSpPr>
          <a:xfrm>
            <a:off x="11620932" y="2679647"/>
            <a:ext cx="14081576" cy="14328946"/>
            <a:chOff x="0" y="0"/>
            <a:chExt cx="18775435" cy="19105262"/>
          </a:xfrm>
        </p:grpSpPr>
        <p:grpSp>
          <p:nvGrpSpPr>
            <p:cNvPr id="22" name="Group 22"/>
            <p:cNvGrpSpPr/>
            <p:nvPr/>
          </p:nvGrpSpPr>
          <p:grpSpPr>
            <a:xfrm rot="6770478">
              <a:off x="3479254" y="4803740"/>
              <a:ext cx="15736054" cy="8000082"/>
              <a:chOff x="0" y="0"/>
              <a:chExt cx="2428403" cy="1234580"/>
            </a:xfrm>
          </p:grpSpPr>
          <p:sp>
            <p:nvSpPr>
              <p:cNvPr id="23" name="Freeform 2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24" name="TextBox 2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709042">
              <a:off x="495643" y="9018417"/>
              <a:ext cx="16242519" cy="1219946"/>
              <a:chOff x="0" y="0"/>
              <a:chExt cx="2061456" cy="154832"/>
            </a:xfrm>
          </p:grpSpPr>
          <p:sp>
            <p:nvSpPr>
              <p:cNvPr id="26" name="Freeform 26"/>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7" name="TextBox 27"/>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7924381">
              <a:off x="2411490" y="6584516"/>
              <a:ext cx="15736054" cy="8000082"/>
              <a:chOff x="0" y="0"/>
              <a:chExt cx="2428403" cy="1234580"/>
            </a:xfrm>
          </p:grpSpPr>
          <p:sp>
            <p:nvSpPr>
              <p:cNvPr id="29" name="Freeform 29"/>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30" name="TextBox 30"/>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7062533">
              <a:off x="3067050" y="5628349"/>
              <a:ext cx="15736054" cy="8000082"/>
              <a:chOff x="0" y="0"/>
              <a:chExt cx="2428403" cy="1234580"/>
            </a:xfrm>
          </p:grpSpPr>
          <p:sp>
            <p:nvSpPr>
              <p:cNvPr id="32" name="Freeform 32"/>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33" name="TextBox 33"/>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rot="9160735">
              <a:off x="1440582" y="7288951"/>
              <a:ext cx="15736054" cy="8000082"/>
              <a:chOff x="0" y="0"/>
              <a:chExt cx="2428403" cy="1234580"/>
            </a:xfrm>
          </p:grpSpPr>
          <p:sp>
            <p:nvSpPr>
              <p:cNvPr id="35" name="Freeform 35"/>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36" name="TextBox 36"/>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rot="10126864">
              <a:off x="610517" y="8607772"/>
              <a:ext cx="17554400" cy="8000082"/>
              <a:chOff x="0" y="0"/>
              <a:chExt cx="2709012" cy="1234580"/>
            </a:xfrm>
          </p:grpSpPr>
          <p:sp>
            <p:nvSpPr>
              <p:cNvPr id="38" name="Freeform 38"/>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39" name="TextBox 39"/>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sp>
        <p:nvSpPr>
          <p:cNvPr id="40" name="Freeform 40"/>
          <p:cNvSpPr/>
          <p:nvPr/>
        </p:nvSpPr>
        <p:spPr>
          <a:xfrm>
            <a:off x="-1825623" y="8364789"/>
            <a:ext cx="7315200" cy="2958662"/>
          </a:xfrm>
          <a:custGeom>
            <a:avLst/>
            <a:gdLst/>
            <a:ahLst/>
            <a:cxnLst/>
            <a:rect l="l" t="t" r="r" b="b"/>
            <a:pathLst>
              <a:path w="7315200" h="2958662">
                <a:moveTo>
                  <a:pt x="0" y="0"/>
                </a:moveTo>
                <a:lnTo>
                  <a:pt x="7315200" y="0"/>
                </a:lnTo>
                <a:lnTo>
                  <a:pt x="7315200" y="2958662"/>
                </a:lnTo>
                <a:lnTo>
                  <a:pt x="0" y="2958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1" name="Freeform 41"/>
          <p:cNvSpPr/>
          <p:nvPr/>
        </p:nvSpPr>
        <p:spPr>
          <a:xfrm flipH="1" flipV="1">
            <a:off x="12798423" y="-1036451"/>
            <a:ext cx="7315200" cy="2958662"/>
          </a:xfrm>
          <a:custGeom>
            <a:avLst/>
            <a:gdLst/>
            <a:ahLst/>
            <a:cxnLst/>
            <a:rect l="l" t="t" r="r" b="b"/>
            <a:pathLst>
              <a:path w="7315200" h="2958662">
                <a:moveTo>
                  <a:pt x="7315200" y="2958662"/>
                </a:moveTo>
                <a:lnTo>
                  <a:pt x="0" y="2958662"/>
                </a:lnTo>
                <a:lnTo>
                  <a:pt x="0" y="0"/>
                </a:lnTo>
                <a:lnTo>
                  <a:pt x="7315200" y="0"/>
                </a:lnTo>
                <a:lnTo>
                  <a:pt x="7315200" y="2958662"/>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2"/>
          <p:cNvSpPr txBox="1"/>
          <p:nvPr/>
        </p:nvSpPr>
        <p:spPr>
          <a:xfrm>
            <a:off x="1643799" y="231775"/>
            <a:ext cx="14318314" cy="1441451"/>
          </a:xfrm>
          <a:prstGeom prst="rect">
            <a:avLst/>
          </a:prstGeom>
        </p:spPr>
        <p:txBody>
          <a:bodyPr lIns="0" tIns="0" rIns="0" bIns="0" rtlCol="0" anchor="t">
            <a:spAutoFit/>
          </a:bodyPr>
          <a:lstStyle/>
          <a:p>
            <a:pPr algn="ctr">
              <a:lnSpc>
                <a:spcPts val="11899"/>
              </a:lnSpc>
            </a:pPr>
            <a:r>
              <a:rPr lang="en-US" sz="8499" b="1">
                <a:solidFill>
                  <a:srgbClr val="113E7A"/>
                </a:solidFill>
                <a:latin typeface="Muli Ultra-Bold"/>
                <a:ea typeface="Muli Ultra-Bold"/>
                <a:cs typeface="Muli Ultra-Bold"/>
                <a:sym typeface="Muli Ultra-Bold"/>
              </a:rPr>
              <a:t>PROBLEM STATEMENT</a:t>
            </a:r>
          </a:p>
        </p:txBody>
      </p:sp>
      <p:sp>
        <p:nvSpPr>
          <p:cNvPr id="43" name="TextBox 43"/>
          <p:cNvSpPr txBox="1"/>
          <p:nvPr/>
        </p:nvSpPr>
        <p:spPr>
          <a:xfrm>
            <a:off x="409576" y="2530965"/>
            <a:ext cx="16849724" cy="6157320"/>
          </a:xfrm>
          <a:prstGeom prst="rect">
            <a:avLst/>
          </a:prstGeom>
        </p:spPr>
        <p:txBody>
          <a:bodyPr lIns="0" tIns="0" rIns="0" bIns="0" rtlCol="0" anchor="t">
            <a:spAutoFit/>
          </a:bodyPr>
          <a:lstStyle/>
          <a:p>
            <a:pPr algn="l">
              <a:lnSpc>
                <a:spcPts val="5335"/>
              </a:lnSpc>
            </a:pPr>
            <a:r>
              <a:rPr lang="en-US" sz="3810">
                <a:solidFill>
                  <a:srgbClr val="113E7A"/>
                </a:solidFill>
                <a:latin typeface="Muli"/>
                <a:ea typeface="Muli"/>
                <a:cs typeface="Muli"/>
                <a:sym typeface="Muli"/>
              </a:rPr>
              <a:t>• Manual room allocation can be time-consuming.</a:t>
            </a:r>
          </a:p>
          <a:p>
            <a:pPr algn="l">
              <a:lnSpc>
                <a:spcPts val="5335"/>
              </a:lnSpc>
            </a:pPr>
            <a:r>
              <a:rPr lang="en-US" sz="3810">
                <a:solidFill>
                  <a:srgbClr val="113E7A"/>
                </a:solidFill>
                <a:latin typeface="Muli"/>
                <a:ea typeface="Muli"/>
                <a:cs typeface="Muli"/>
                <a:sym typeface="Muli"/>
              </a:rPr>
              <a:t> • Student records may be maintained using paper or separate systems.</a:t>
            </a:r>
          </a:p>
          <a:p>
            <a:pPr algn="l">
              <a:lnSpc>
                <a:spcPts val="5335"/>
              </a:lnSpc>
            </a:pPr>
            <a:r>
              <a:rPr lang="en-US" sz="3810">
                <a:solidFill>
                  <a:srgbClr val="113E7A"/>
                </a:solidFill>
                <a:latin typeface="Muli"/>
                <a:ea typeface="Muli"/>
                <a:cs typeface="Muli"/>
                <a:sym typeface="Muli"/>
              </a:rPr>
              <a:t> • Complaints may take a long time to reach the responsible person.</a:t>
            </a:r>
          </a:p>
          <a:p>
            <a:pPr algn="l">
              <a:lnSpc>
                <a:spcPts val="5335"/>
              </a:lnSpc>
            </a:pPr>
            <a:r>
              <a:rPr lang="en-US" sz="3810">
                <a:solidFill>
                  <a:srgbClr val="113E7A"/>
                </a:solidFill>
                <a:latin typeface="Muli"/>
                <a:ea typeface="Muli"/>
                <a:cs typeface="Muli"/>
                <a:sym typeface="Muli"/>
              </a:rPr>
              <a:t> • Students may not receive important hostel updates immediately.</a:t>
            </a:r>
          </a:p>
          <a:p>
            <a:pPr algn="l">
              <a:lnSpc>
                <a:spcPts val="5335"/>
              </a:lnSpc>
            </a:pPr>
            <a:r>
              <a:rPr lang="en-US" sz="3810">
                <a:solidFill>
                  <a:srgbClr val="113E7A"/>
                </a:solidFill>
                <a:latin typeface="Muli"/>
                <a:ea typeface="Muli"/>
                <a:cs typeface="Muli"/>
                <a:sym typeface="Muli"/>
              </a:rPr>
              <a:t> • Wardens face difficulty monitoring many students and hostel activitie</a:t>
            </a:r>
          </a:p>
          <a:p>
            <a:pPr algn="l">
              <a:lnSpc>
                <a:spcPts val="5335"/>
              </a:lnSpc>
            </a:pPr>
            <a:r>
              <a:rPr lang="en-US" sz="3810">
                <a:solidFill>
                  <a:srgbClr val="113E7A"/>
                </a:solidFill>
                <a:latin typeface="Muli"/>
                <a:ea typeface="Muli"/>
                <a:cs typeface="Muli"/>
                <a:sym typeface="Muli"/>
              </a:rPr>
              <a:t> • Maintenance is often reactive instead of predictive. </a:t>
            </a:r>
          </a:p>
          <a:p>
            <a:pPr algn="l">
              <a:lnSpc>
                <a:spcPts val="5335"/>
              </a:lnSpc>
            </a:pPr>
            <a:r>
              <a:rPr lang="en-US" sz="3810">
                <a:solidFill>
                  <a:srgbClr val="113E7A"/>
                </a:solidFill>
                <a:latin typeface="Muli"/>
                <a:ea typeface="Muli"/>
                <a:cs typeface="Muli"/>
                <a:sym typeface="Muli"/>
              </a:rPr>
              <a:t>• Hostel data is not effectively analyzed for future planning.</a:t>
            </a:r>
          </a:p>
          <a:p>
            <a:pPr algn="l">
              <a:lnSpc>
                <a:spcPts val="5755"/>
              </a:lnSpc>
            </a:pPr>
            <a:r>
              <a:rPr lang="en-US" sz="4110">
                <a:solidFill>
                  <a:srgbClr val="113E7A"/>
                </a:solidFill>
                <a:latin typeface="Muli"/>
                <a:ea typeface="Muli"/>
                <a:cs typeface="Muli"/>
                <a:sym typeface="Muli"/>
              </a:rPr>
              <a:t> • Existing systems may provide basic management but have limited AI-based decision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9712745" y="1716788"/>
            <a:ext cx="18526227" cy="18206396"/>
            <a:chOff x="0" y="0"/>
            <a:chExt cx="24701635" cy="24275194"/>
          </a:xfrm>
        </p:grpSpPr>
        <p:grpSp>
          <p:nvGrpSpPr>
            <p:cNvPr id="3" name="Group 3"/>
            <p:cNvGrpSpPr/>
            <p:nvPr/>
          </p:nvGrpSpPr>
          <p:grpSpPr>
            <a:xfrm rot="-9429521">
              <a:off x="3146270" y="9499417"/>
              <a:ext cx="20345509" cy="10343491"/>
              <a:chOff x="0" y="0"/>
              <a:chExt cx="2428403" cy="1234580"/>
            </a:xfrm>
          </p:grpSpPr>
          <p:sp>
            <p:nvSpPr>
              <p:cNvPr id="4" name="Freeform 4"/>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5" name="TextBox 5"/>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6" name="Group 6"/>
            <p:cNvGrpSpPr/>
            <p:nvPr/>
          </p:nvGrpSpPr>
          <p:grpSpPr>
            <a:xfrm rot="-5490957">
              <a:off x="1752702" y="10352345"/>
              <a:ext cx="21000330" cy="1577296"/>
              <a:chOff x="0" y="0"/>
              <a:chExt cx="2061456" cy="154832"/>
            </a:xfrm>
          </p:grpSpPr>
          <p:sp>
            <p:nvSpPr>
              <p:cNvPr id="7" name="Freeform 7"/>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8" name="TextBox 8"/>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9" name="Group 9"/>
            <p:cNvGrpSpPr/>
            <p:nvPr/>
          </p:nvGrpSpPr>
          <p:grpSpPr>
            <a:xfrm rot="-8275618">
              <a:off x="843863" y="8118880"/>
              <a:ext cx="20345509" cy="10343491"/>
              <a:chOff x="0" y="0"/>
              <a:chExt cx="2428403" cy="1234580"/>
            </a:xfrm>
          </p:grpSpPr>
          <p:sp>
            <p:nvSpPr>
              <p:cNvPr id="10" name="Freeform 10"/>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11" name="TextBox 11"/>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2" name="Group 12"/>
            <p:cNvGrpSpPr/>
            <p:nvPr/>
          </p:nvGrpSpPr>
          <p:grpSpPr>
            <a:xfrm rot="-9137466">
              <a:off x="2080113" y="8966468"/>
              <a:ext cx="20345509" cy="10343491"/>
              <a:chOff x="0" y="0"/>
              <a:chExt cx="2428403" cy="1234580"/>
            </a:xfrm>
          </p:grpSpPr>
          <p:sp>
            <p:nvSpPr>
              <p:cNvPr id="13" name="Freeform 1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5" name="Group 15"/>
            <p:cNvGrpSpPr/>
            <p:nvPr/>
          </p:nvGrpSpPr>
          <p:grpSpPr>
            <a:xfrm rot="-7039264">
              <a:off x="-66918" y="6863571"/>
              <a:ext cx="20345509" cy="10343491"/>
              <a:chOff x="0" y="0"/>
              <a:chExt cx="2428403" cy="1234580"/>
            </a:xfrm>
          </p:grpSpPr>
          <p:sp>
            <p:nvSpPr>
              <p:cNvPr id="16" name="Freeform 16"/>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17" name="TextBox 17"/>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8" name="Group 18"/>
            <p:cNvGrpSpPr/>
            <p:nvPr/>
          </p:nvGrpSpPr>
          <p:grpSpPr>
            <a:xfrm rot="-6073135">
              <a:off x="-2947544" y="6965852"/>
              <a:ext cx="22696491" cy="10343491"/>
              <a:chOff x="0" y="0"/>
              <a:chExt cx="2709012" cy="1234580"/>
            </a:xfrm>
          </p:grpSpPr>
          <p:sp>
            <p:nvSpPr>
              <p:cNvPr id="19" name="Freeform 19"/>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20" name="TextBox 20"/>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grpSp>
        <p:nvGrpSpPr>
          <p:cNvPr id="21" name="Group 21"/>
          <p:cNvGrpSpPr/>
          <p:nvPr/>
        </p:nvGrpSpPr>
        <p:grpSpPr>
          <a:xfrm>
            <a:off x="9474518" y="-9636184"/>
            <a:ext cx="18526227" cy="18206396"/>
            <a:chOff x="0" y="0"/>
            <a:chExt cx="24701635" cy="24275194"/>
          </a:xfrm>
        </p:grpSpPr>
        <p:grpSp>
          <p:nvGrpSpPr>
            <p:cNvPr id="22" name="Group 22"/>
            <p:cNvGrpSpPr/>
            <p:nvPr/>
          </p:nvGrpSpPr>
          <p:grpSpPr>
            <a:xfrm rot="1370478">
              <a:off x="1209857" y="4432286"/>
              <a:ext cx="20345509" cy="10343491"/>
              <a:chOff x="0" y="0"/>
              <a:chExt cx="2428403" cy="1234580"/>
            </a:xfrm>
          </p:grpSpPr>
          <p:sp>
            <p:nvSpPr>
              <p:cNvPr id="23" name="Freeform 2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24" name="TextBox 2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25" name="Group 25"/>
            <p:cNvGrpSpPr/>
            <p:nvPr/>
          </p:nvGrpSpPr>
          <p:grpSpPr>
            <a:xfrm rot="5309042">
              <a:off x="1948604" y="12345553"/>
              <a:ext cx="21000330" cy="1577296"/>
              <a:chOff x="0" y="0"/>
              <a:chExt cx="2061456" cy="154832"/>
            </a:xfrm>
          </p:grpSpPr>
          <p:sp>
            <p:nvSpPr>
              <p:cNvPr id="26" name="Freeform 26"/>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7" name="TextBox 27"/>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28" name="Group 28"/>
            <p:cNvGrpSpPr/>
            <p:nvPr/>
          </p:nvGrpSpPr>
          <p:grpSpPr>
            <a:xfrm rot="2524381">
              <a:off x="3512264" y="5812823"/>
              <a:ext cx="20345509" cy="10343491"/>
              <a:chOff x="0" y="0"/>
              <a:chExt cx="2428403" cy="1234580"/>
            </a:xfrm>
          </p:grpSpPr>
          <p:sp>
            <p:nvSpPr>
              <p:cNvPr id="29" name="Freeform 29"/>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30" name="TextBox 30"/>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1" name="Group 31"/>
            <p:cNvGrpSpPr/>
            <p:nvPr/>
          </p:nvGrpSpPr>
          <p:grpSpPr>
            <a:xfrm rot="1662533">
              <a:off x="2276014" y="4965235"/>
              <a:ext cx="20345509" cy="10343491"/>
              <a:chOff x="0" y="0"/>
              <a:chExt cx="2428403" cy="1234580"/>
            </a:xfrm>
          </p:grpSpPr>
          <p:sp>
            <p:nvSpPr>
              <p:cNvPr id="32" name="Freeform 32"/>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33" name="TextBox 33"/>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4" name="Group 34"/>
            <p:cNvGrpSpPr/>
            <p:nvPr/>
          </p:nvGrpSpPr>
          <p:grpSpPr>
            <a:xfrm rot="3760735">
              <a:off x="4423045" y="7068132"/>
              <a:ext cx="20345509" cy="10343491"/>
              <a:chOff x="0" y="0"/>
              <a:chExt cx="2428403" cy="1234580"/>
            </a:xfrm>
          </p:grpSpPr>
          <p:sp>
            <p:nvSpPr>
              <p:cNvPr id="35" name="Freeform 35"/>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36" name="TextBox 36"/>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7" name="Group 37"/>
            <p:cNvGrpSpPr/>
            <p:nvPr/>
          </p:nvGrpSpPr>
          <p:grpSpPr>
            <a:xfrm rot="4726864">
              <a:off x="4952688" y="6965852"/>
              <a:ext cx="22696491" cy="10343491"/>
              <a:chOff x="0" y="0"/>
              <a:chExt cx="2709012" cy="1234580"/>
            </a:xfrm>
          </p:grpSpPr>
          <p:sp>
            <p:nvSpPr>
              <p:cNvPr id="38" name="Freeform 38"/>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39" name="TextBox 39"/>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sp>
        <p:nvSpPr>
          <p:cNvPr id="40" name="Freeform 40"/>
          <p:cNvSpPr/>
          <p:nvPr/>
        </p:nvSpPr>
        <p:spPr>
          <a:xfrm flipV="1">
            <a:off x="-1500241" y="-2398012"/>
            <a:ext cx="6222760" cy="4114800"/>
          </a:xfrm>
          <a:custGeom>
            <a:avLst/>
            <a:gdLst/>
            <a:ahLst/>
            <a:cxnLst/>
            <a:rect l="l" t="t" r="r" b="b"/>
            <a:pathLst>
              <a:path w="6222760" h="4114800">
                <a:moveTo>
                  <a:pt x="0" y="4114800"/>
                </a:moveTo>
                <a:lnTo>
                  <a:pt x="6222760" y="4114800"/>
                </a:lnTo>
                <a:lnTo>
                  <a:pt x="6222760"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1" name="Freeform 41"/>
          <p:cNvSpPr/>
          <p:nvPr/>
        </p:nvSpPr>
        <p:spPr>
          <a:xfrm flipH="1">
            <a:off x="13565481" y="8570212"/>
            <a:ext cx="6222760" cy="4114800"/>
          </a:xfrm>
          <a:custGeom>
            <a:avLst/>
            <a:gdLst/>
            <a:ahLst/>
            <a:cxnLst/>
            <a:rect l="l" t="t" r="r" b="b"/>
            <a:pathLst>
              <a:path w="6222760" h="4114800">
                <a:moveTo>
                  <a:pt x="6222760" y="0"/>
                </a:moveTo>
                <a:lnTo>
                  <a:pt x="0" y="0"/>
                </a:lnTo>
                <a:lnTo>
                  <a:pt x="0" y="4114800"/>
                </a:lnTo>
                <a:lnTo>
                  <a:pt x="6222760" y="4114800"/>
                </a:lnTo>
                <a:lnTo>
                  <a:pt x="622276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2"/>
          <p:cNvSpPr txBox="1"/>
          <p:nvPr/>
        </p:nvSpPr>
        <p:spPr>
          <a:xfrm>
            <a:off x="1984843" y="275338"/>
            <a:ext cx="14318314" cy="1441451"/>
          </a:xfrm>
          <a:prstGeom prst="rect">
            <a:avLst/>
          </a:prstGeom>
        </p:spPr>
        <p:txBody>
          <a:bodyPr lIns="0" tIns="0" rIns="0" bIns="0" rtlCol="0" anchor="t">
            <a:spAutoFit/>
          </a:bodyPr>
          <a:lstStyle/>
          <a:p>
            <a:pPr marL="0" lvl="0" indent="0" algn="ctr">
              <a:lnSpc>
                <a:spcPts val="11899"/>
              </a:lnSpc>
              <a:spcBef>
                <a:spcPct val="0"/>
              </a:spcBef>
            </a:pPr>
            <a:r>
              <a:rPr lang="en-US" sz="8499" b="1">
                <a:solidFill>
                  <a:srgbClr val="113E7A"/>
                </a:solidFill>
                <a:latin typeface="Muli Ultra-Bold"/>
                <a:ea typeface="Muli Ultra-Bold"/>
                <a:cs typeface="Muli Ultra-Bold"/>
                <a:sym typeface="Muli Ultra-Bold"/>
              </a:rPr>
              <a:t>INTRODUCTION</a:t>
            </a:r>
          </a:p>
        </p:txBody>
      </p:sp>
      <p:sp>
        <p:nvSpPr>
          <p:cNvPr id="43" name="TextBox 43"/>
          <p:cNvSpPr txBox="1"/>
          <p:nvPr/>
        </p:nvSpPr>
        <p:spPr>
          <a:xfrm>
            <a:off x="0" y="2391309"/>
            <a:ext cx="18288000" cy="7531233"/>
          </a:xfrm>
          <a:prstGeom prst="rect">
            <a:avLst/>
          </a:prstGeom>
        </p:spPr>
        <p:txBody>
          <a:bodyPr lIns="0" tIns="0" rIns="0" bIns="0" rtlCol="0" anchor="t">
            <a:spAutoFit/>
          </a:bodyPr>
          <a:lstStyle/>
          <a:p>
            <a:pPr algn="ctr">
              <a:lnSpc>
                <a:spcPts val="5417"/>
              </a:lnSpc>
              <a:spcBef>
                <a:spcPct val="0"/>
              </a:spcBef>
            </a:pPr>
            <a:r>
              <a:rPr lang="en-US" sz="3869">
                <a:solidFill>
                  <a:srgbClr val="113E7A"/>
                </a:solidFill>
                <a:latin typeface="Muli"/>
                <a:ea typeface="Muli"/>
                <a:cs typeface="Muli"/>
                <a:sym typeface="Muli"/>
              </a:rPr>
              <a:t>Hostel management is an important part of educational institutions because it involves managing a large number of students, rooms, facilities, payments, complaints, attendance, visitors, and maintenance activities.</a:t>
            </a:r>
          </a:p>
          <a:p>
            <a:pPr algn="ctr">
              <a:lnSpc>
                <a:spcPts val="5417"/>
              </a:lnSpc>
              <a:spcBef>
                <a:spcPct val="0"/>
              </a:spcBef>
            </a:pPr>
            <a:r>
              <a:rPr lang="en-US" sz="3869">
                <a:solidFill>
                  <a:srgbClr val="113E7A"/>
                </a:solidFill>
                <a:latin typeface="Muli"/>
                <a:ea typeface="Muli"/>
                <a:cs typeface="Muli"/>
                <a:sym typeface="Muli"/>
              </a:rPr>
              <a:t>In many institutions, these activities are still handled through manual records, spreadsheets, paper forms, or multiple disconnected systems. This can result in data duplication, delays, communication problems, and difficulty in trackinghostel activities.</a:t>
            </a:r>
          </a:p>
          <a:p>
            <a:pPr algn="ctr">
              <a:lnSpc>
                <a:spcPts val="5417"/>
              </a:lnSpc>
              <a:spcBef>
                <a:spcPct val="0"/>
              </a:spcBef>
            </a:pPr>
            <a:r>
              <a:rPr lang="en-US" sz="3869">
                <a:solidFill>
                  <a:srgbClr val="113E7A"/>
                </a:solidFill>
                <a:latin typeface="Muli"/>
                <a:ea typeface="Muli"/>
                <a:cs typeface="Muli"/>
                <a:sym typeface="Muli"/>
              </a:rPr>
              <a:t>With the development of Artificial Intelligence, Machine Learning, cloud computing, and web applications, hostel management can be made smarter and more efficient.</a:t>
            </a:r>
          </a:p>
          <a:p>
            <a:pPr algn="ctr">
              <a:lnSpc>
                <a:spcPts val="5417"/>
              </a:lnSpc>
              <a:spcBef>
                <a:spcPct val="0"/>
              </a:spcBef>
            </a:pPr>
            <a:r>
              <a:rPr lang="en-US" sz="3869">
                <a:solidFill>
                  <a:srgbClr val="113E7A"/>
                </a:solidFill>
                <a:latin typeface="Muli"/>
                <a:ea typeface="Muli"/>
                <a:cs typeface="Muli"/>
                <a:sym typeface="Muli"/>
              </a:rPr>
              <a:t>SmartStay brings different hostel activities into a single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7414507" y="-6721593"/>
            <a:ext cx="14081576" cy="14328946"/>
            <a:chOff x="0" y="0"/>
            <a:chExt cx="18775435" cy="19105262"/>
          </a:xfrm>
        </p:grpSpPr>
        <p:grpSp>
          <p:nvGrpSpPr>
            <p:cNvPr id="3" name="Group 3"/>
            <p:cNvGrpSpPr/>
            <p:nvPr/>
          </p:nvGrpSpPr>
          <p:grpSpPr>
            <a:xfrm rot="-4029521">
              <a:off x="-439874" y="6301441"/>
              <a:ext cx="15736054" cy="8000082"/>
              <a:chOff x="0" y="0"/>
              <a:chExt cx="2428403" cy="1234580"/>
            </a:xfrm>
          </p:grpSpPr>
          <p:sp>
            <p:nvSpPr>
              <p:cNvPr id="4" name="Freeform 4"/>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5" name="TextBox 5"/>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90957">
              <a:off x="2037272" y="8866899"/>
              <a:ext cx="16242519" cy="1219946"/>
              <a:chOff x="0" y="0"/>
              <a:chExt cx="2061456" cy="154832"/>
            </a:xfrm>
          </p:grpSpPr>
          <p:sp>
            <p:nvSpPr>
              <p:cNvPr id="7" name="Freeform 7"/>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8" name="TextBox 8"/>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2875618">
              <a:off x="627890" y="4520664"/>
              <a:ext cx="15736054" cy="8000082"/>
              <a:chOff x="0" y="0"/>
              <a:chExt cx="2428403" cy="1234580"/>
            </a:xfrm>
          </p:grpSpPr>
          <p:sp>
            <p:nvSpPr>
              <p:cNvPr id="10" name="Freeform 10"/>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11" name="TextBox 11"/>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3737466">
              <a:off x="-27669" y="5476831"/>
              <a:ext cx="15736054" cy="8000082"/>
              <a:chOff x="0" y="0"/>
              <a:chExt cx="2428403" cy="1234580"/>
            </a:xfrm>
          </p:grpSpPr>
          <p:sp>
            <p:nvSpPr>
              <p:cNvPr id="13" name="Freeform 1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1639264">
              <a:off x="1598798" y="3816229"/>
              <a:ext cx="15736054" cy="8000082"/>
              <a:chOff x="0" y="0"/>
              <a:chExt cx="2428403" cy="1234580"/>
            </a:xfrm>
          </p:grpSpPr>
          <p:sp>
            <p:nvSpPr>
              <p:cNvPr id="16" name="Freeform 16"/>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17" name="TextBox 17"/>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673135">
              <a:off x="610517" y="2497408"/>
              <a:ext cx="17554400" cy="8000082"/>
              <a:chOff x="0" y="0"/>
              <a:chExt cx="2709012" cy="1234580"/>
            </a:xfrm>
          </p:grpSpPr>
          <p:sp>
            <p:nvSpPr>
              <p:cNvPr id="19" name="Freeform 19"/>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20" name="TextBox 20"/>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grpSp>
        <p:nvGrpSpPr>
          <p:cNvPr id="21" name="Group 21"/>
          <p:cNvGrpSpPr/>
          <p:nvPr/>
        </p:nvGrpSpPr>
        <p:grpSpPr>
          <a:xfrm>
            <a:off x="11620932" y="2679647"/>
            <a:ext cx="14081576" cy="14328946"/>
            <a:chOff x="0" y="0"/>
            <a:chExt cx="18775435" cy="19105262"/>
          </a:xfrm>
        </p:grpSpPr>
        <p:grpSp>
          <p:nvGrpSpPr>
            <p:cNvPr id="22" name="Group 22"/>
            <p:cNvGrpSpPr/>
            <p:nvPr/>
          </p:nvGrpSpPr>
          <p:grpSpPr>
            <a:xfrm rot="6770478">
              <a:off x="3479254" y="4803740"/>
              <a:ext cx="15736054" cy="8000082"/>
              <a:chOff x="0" y="0"/>
              <a:chExt cx="2428403" cy="1234580"/>
            </a:xfrm>
          </p:grpSpPr>
          <p:sp>
            <p:nvSpPr>
              <p:cNvPr id="23" name="Freeform 2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24" name="TextBox 2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709042">
              <a:off x="495643" y="9018417"/>
              <a:ext cx="16242519" cy="1219946"/>
              <a:chOff x="0" y="0"/>
              <a:chExt cx="2061456" cy="154832"/>
            </a:xfrm>
          </p:grpSpPr>
          <p:sp>
            <p:nvSpPr>
              <p:cNvPr id="26" name="Freeform 26"/>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7" name="TextBox 27"/>
              <p:cNvSpPr txBox="1"/>
              <p:nvPr/>
            </p:nvSpPr>
            <p:spPr>
              <a:xfrm>
                <a:off x="254000" y="-38100"/>
                <a:ext cx="1553456" cy="192932"/>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7924381">
              <a:off x="2411490" y="6584516"/>
              <a:ext cx="15736054" cy="8000082"/>
              <a:chOff x="0" y="0"/>
              <a:chExt cx="2428403" cy="1234580"/>
            </a:xfrm>
          </p:grpSpPr>
          <p:sp>
            <p:nvSpPr>
              <p:cNvPr id="29" name="Freeform 29"/>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30" name="TextBox 30"/>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7062533">
              <a:off x="3067050" y="5628349"/>
              <a:ext cx="15736054" cy="8000082"/>
              <a:chOff x="0" y="0"/>
              <a:chExt cx="2428403" cy="1234580"/>
            </a:xfrm>
          </p:grpSpPr>
          <p:sp>
            <p:nvSpPr>
              <p:cNvPr id="32" name="Freeform 32"/>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33" name="TextBox 33"/>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rot="9160735">
              <a:off x="1440582" y="7288951"/>
              <a:ext cx="15736054" cy="8000082"/>
              <a:chOff x="0" y="0"/>
              <a:chExt cx="2428403" cy="1234580"/>
            </a:xfrm>
          </p:grpSpPr>
          <p:sp>
            <p:nvSpPr>
              <p:cNvPr id="35" name="Freeform 35"/>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36" name="TextBox 36"/>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rot="10126864">
              <a:off x="610517" y="8607772"/>
              <a:ext cx="17554400" cy="8000082"/>
              <a:chOff x="0" y="0"/>
              <a:chExt cx="2709012" cy="1234580"/>
            </a:xfrm>
          </p:grpSpPr>
          <p:sp>
            <p:nvSpPr>
              <p:cNvPr id="38" name="Freeform 38"/>
              <p:cNvSpPr/>
              <p:nvPr/>
            </p:nvSpPr>
            <p:spPr>
              <a:xfrm>
                <a:off x="0" y="0"/>
                <a:ext cx="2709012" cy="1234580"/>
              </a:xfrm>
              <a:custGeom>
                <a:avLst/>
                <a:gdLst/>
                <a:ahLst/>
                <a:cxnLst/>
                <a:rect l="l" t="t" r="r" b="b"/>
                <a:pathLst>
                  <a:path w="2709012" h="1234580">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id="39" name="TextBox 39"/>
              <p:cNvSpPr txBox="1"/>
              <p:nvPr/>
            </p:nvSpPr>
            <p:spPr>
              <a:xfrm>
                <a:off x="0" y="-38100"/>
                <a:ext cx="2709012" cy="1272680"/>
              </a:xfrm>
              <a:prstGeom prst="rect">
                <a:avLst/>
              </a:prstGeom>
            </p:spPr>
            <p:txBody>
              <a:bodyPr lIns="50800" tIns="50800" rIns="50800" bIns="50800" rtlCol="0" anchor="ctr"/>
              <a:lstStyle/>
              <a:p>
                <a:pPr algn="ctr">
                  <a:lnSpc>
                    <a:spcPts val="2659"/>
                  </a:lnSpc>
                </a:pPr>
                <a:endParaRPr/>
              </a:p>
            </p:txBody>
          </p:sp>
        </p:grpSp>
      </p:grpSp>
      <p:sp>
        <p:nvSpPr>
          <p:cNvPr id="40" name="Freeform 40"/>
          <p:cNvSpPr/>
          <p:nvPr/>
        </p:nvSpPr>
        <p:spPr>
          <a:xfrm flipV="1">
            <a:off x="14573663" y="-2783793"/>
            <a:ext cx="6222760" cy="4114800"/>
          </a:xfrm>
          <a:custGeom>
            <a:avLst/>
            <a:gdLst/>
            <a:ahLst/>
            <a:cxnLst/>
            <a:rect l="l" t="t" r="r" b="b"/>
            <a:pathLst>
              <a:path w="6222760" h="4114800">
                <a:moveTo>
                  <a:pt x="0" y="4114800"/>
                </a:moveTo>
                <a:lnTo>
                  <a:pt x="6222760" y="4114800"/>
                </a:lnTo>
                <a:lnTo>
                  <a:pt x="6222760"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41" name="Freeform 41"/>
          <p:cNvSpPr/>
          <p:nvPr/>
        </p:nvSpPr>
        <p:spPr>
          <a:xfrm flipH="1">
            <a:off x="-2508423" y="8955993"/>
            <a:ext cx="6222760" cy="4114800"/>
          </a:xfrm>
          <a:custGeom>
            <a:avLst/>
            <a:gdLst/>
            <a:ahLst/>
            <a:cxnLst/>
            <a:rect l="l" t="t" r="r" b="b"/>
            <a:pathLst>
              <a:path w="6222760" h="4114800">
                <a:moveTo>
                  <a:pt x="6222760" y="0"/>
                </a:moveTo>
                <a:lnTo>
                  <a:pt x="0" y="0"/>
                </a:lnTo>
                <a:lnTo>
                  <a:pt x="0" y="4114800"/>
                </a:lnTo>
                <a:lnTo>
                  <a:pt x="6222760" y="4114800"/>
                </a:lnTo>
                <a:lnTo>
                  <a:pt x="622276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1492042" y="534082"/>
            <a:ext cx="14318314" cy="1441451"/>
          </a:xfrm>
          <a:prstGeom prst="rect">
            <a:avLst/>
          </a:prstGeom>
        </p:spPr>
        <p:txBody>
          <a:bodyPr lIns="0" tIns="0" rIns="0" bIns="0" rtlCol="0" anchor="t">
            <a:spAutoFit/>
          </a:bodyPr>
          <a:lstStyle/>
          <a:p>
            <a:pPr marL="0" lvl="0" indent="0" algn="ctr">
              <a:lnSpc>
                <a:spcPts val="11899"/>
              </a:lnSpc>
              <a:spcBef>
                <a:spcPct val="0"/>
              </a:spcBef>
            </a:pPr>
            <a:r>
              <a:rPr lang="en-US" sz="8499" b="1">
                <a:solidFill>
                  <a:srgbClr val="113E7A"/>
                </a:solidFill>
                <a:latin typeface="Muli Ultra-Bold"/>
                <a:ea typeface="Muli Ultra-Bold"/>
                <a:cs typeface="Muli Ultra-Bold"/>
                <a:sym typeface="Muli Ultra-Bold"/>
              </a:rPr>
              <a:t> Literature Survey</a:t>
            </a:r>
          </a:p>
        </p:txBody>
      </p:sp>
      <p:pic>
        <p:nvPicPr>
          <p:cNvPr id="45" name="Picture 44">
            <a:extLst>
              <a:ext uri="{FF2B5EF4-FFF2-40B4-BE49-F238E27FC236}">
                <a16:creationId xmlns:a16="http://schemas.microsoft.com/office/drawing/2014/main" id="{C32C9487-5DB7-8A69-8EBC-9E7C6E26C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462204"/>
            <a:ext cx="14630400" cy="95580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9712745" y="1716788"/>
            <a:ext cx="18526227" cy="18206396"/>
            <a:chOff x="0" y="0"/>
            <a:chExt cx="24701635" cy="24275194"/>
          </a:xfrm>
        </p:grpSpPr>
        <p:grpSp>
          <p:nvGrpSpPr>
            <p:cNvPr id="3" name="Group 3"/>
            <p:cNvGrpSpPr/>
            <p:nvPr/>
          </p:nvGrpSpPr>
          <p:grpSpPr>
            <a:xfrm rot="-9429521">
              <a:off x="3146270" y="9499417"/>
              <a:ext cx="20345509" cy="10343491"/>
              <a:chOff x="0" y="0"/>
              <a:chExt cx="2428403" cy="1234580"/>
            </a:xfrm>
          </p:grpSpPr>
          <p:sp>
            <p:nvSpPr>
              <p:cNvPr id="4" name="Freeform 4"/>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5" name="TextBox 5"/>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6" name="Group 6"/>
            <p:cNvGrpSpPr/>
            <p:nvPr/>
          </p:nvGrpSpPr>
          <p:grpSpPr>
            <a:xfrm rot="-5490957">
              <a:off x="1752702" y="10352345"/>
              <a:ext cx="21000330" cy="1577296"/>
              <a:chOff x="0" y="0"/>
              <a:chExt cx="2061456" cy="154832"/>
            </a:xfrm>
          </p:grpSpPr>
          <p:sp>
            <p:nvSpPr>
              <p:cNvPr id="7" name="Freeform 7"/>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8" name="TextBox 8"/>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9" name="Group 9"/>
            <p:cNvGrpSpPr/>
            <p:nvPr/>
          </p:nvGrpSpPr>
          <p:grpSpPr>
            <a:xfrm rot="-8275618">
              <a:off x="843863" y="8118880"/>
              <a:ext cx="20345509" cy="10343491"/>
              <a:chOff x="0" y="0"/>
              <a:chExt cx="2428403" cy="1234580"/>
            </a:xfrm>
          </p:grpSpPr>
          <p:sp>
            <p:nvSpPr>
              <p:cNvPr id="10" name="Freeform 10"/>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11" name="TextBox 11"/>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2" name="Group 12"/>
            <p:cNvGrpSpPr/>
            <p:nvPr/>
          </p:nvGrpSpPr>
          <p:grpSpPr>
            <a:xfrm rot="-9137466">
              <a:off x="2080113" y="8966468"/>
              <a:ext cx="20345509" cy="10343491"/>
              <a:chOff x="0" y="0"/>
              <a:chExt cx="2428403" cy="1234580"/>
            </a:xfrm>
          </p:grpSpPr>
          <p:sp>
            <p:nvSpPr>
              <p:cNvPr id="13" name="Freeform 1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5" name="Group 15"/>
            <p:cNvGrpSpPr/>
            <p:nvPr/>
          </p:nvGrpSpPr>
          <p:grpSpPr>
            <a:xfrm rot="-7039264">
              <a:off x="-66918" y="6863571"/>
              <a:ext cx="20345509" cy="10343491"/>
              <a:chOff x="0" y="0"/>
              <a:chExt cx="2428403" cy="1234580"/>
            </a:xfrm>
          </p:grpSpPr>
          <p:sp>
            <p:nvSpPr>
              <p:cNvPr id="16" name="Freeform 16"/>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17" name="TextBox 17"/>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18" name="Group 18"/>
            <p:cNvGrpSpPr/>
            <p:nvPr/>
          </p:nvGrpSpPr>
          <p:grpSpPr>
            <a:xfrm rot="-6073135">
              <a:off x="-2947544" y="6965852"/>
              <a:ext cx="22696491" cy="10343491"/>
              <a:chOff x="0" y="0"/>
              <a:chExt cx="2709012" cy="1234580"/>
            </a:xfrm>
          </p:grpSpPr>
          <p:sp>
            <p:nvSpPr>
              <p:cNvPr id="19" name="Freeform 19"/>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20" name="TextBox 20"/>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grpSp>
        <p:nvGrpSpPr>
          <p:cNvPr id="21" name="Group 21"/>
          <p:cNvGrpSpPr/>
          <p:nvPr/>
        </p:nvGrpSpPr>
        <p:grpSpPr>
          <a:xfrm>
            <a:off x="9474518" y="-9636184"/>
            <a:ext cx="18526227" cy="18206396"/>
            <a:chOff x="0" y="0"/>
            <a:chExt cx="24701635" cy="24275194"/>
          </a:xfrm>
        </p:grpSpPr>
        <p:grpSp>
          <p:nvGrpSpPr>
            <p:cNvPr id="22" name="Group 22"/>
            <p:cNvGrpSpPr/>
            <p:nvPr/>
          </p:nvGrpSpPr>
          <p:grpSpPr>
            <a:xfrm rot="1370478">
              <a:off x="1209857" y="4432286"/>
              <a:ext cx="20345509" cy="10343491"/>
              <a:chOff x="0" y="0"/>
              <a:chExt cx="2428403" cy="1234580"/>
            </a:xfrm>
          </p:grpSpPr>
          <p:sp>
            <p:nvSpPr>
              <p:cNvPr id="23" name="Freeform 23"/>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24" name="TextBox 24"/>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25" name="Group 25"/>
            <p:cNvGrpSpPr/>
            <p:nvPr/>
          </p:nvGrpSpPr>
          <p:grpSpPr>
            <a:xfrm rot="5309042">
              <a:off x="1948604" y="12345553"/>
              <a:ext cx="21000330" cy="1577296"/>
              <a:chOff x="0" y="0"/>
              <a:chExt cx="2061456" cy="154832"/>
            </a:xfrm>
          </p:grpSpPr>
          <p:sp>
            <p:nvSpPr>
              <p:cNvPr id="26" name="Freeform 26"/>
              <p:cNvSpPr/>
              <p:nvPr/>
            </p:nvSpPr>
            <p:spPr>
              <a:xfrm>
                <a:off x="0" y="0"/>
                <a:ext cx="2061456" cy="154832"/>
              </a:xfrm>
              <a:custGeom>
                <a:avLst/>
                <a:gdLst/>
                <a:ahLst/>
                <a:cxnLst/>
                <a:rect l="l" t="t" r="r" b="b"/>
                <a:pathLst>
                  <a:path w="2061456" h="154832">
                    <a:moveTo>
                      <a:pt x="230188" y="0"/>
                    </a:moveTo>
                    <a:lnTo>
                      <a:pt x="2061456" y="0"/>
                    </a:lnTo>
                    <a:lnTo>
                      <a:pt x="1831268" y="154832"/>
                    </a:lnTo>
                    <a:lnTo>
                      <a:pt x="0" y="154832"/>
                    </a:lnTo>
                    <a:lnTo>
                      <a:pt x="230188" y="0"/>
                    </a:lnTo>
                    <a:close/>
                  </a:path>
                </a:pathLst>
              </a:custGeom>
              <a:solidFill>
                <a:srgbClr val="3199CE">
                  <a:alpha val="43922"/>
                </a:srgbClr>
              </a:solidFill>
            </p:spPr>
          </p:sp>
          <p:sp>
            <p:nvSpPr>
              <p:cNvPr id="27" name="TextBox 27"/>
              <p:cNvSpPr txBox="1"/>
              <p:nvPr/>
            </p:nvSpPr>
            <p:spPr>
              <a:xfrm>
                <a:off x="254000" y="-38100"/>
                <a:ext cx="1553456" cy="192932"/>
              </a:xfrm>
              <a:prstGeom prst="rect">
                <a:avLst/>
              </a:prstGeom>
            </p:spPr>
            <p:txBody>
              <a:bodyPr lIns="65680" tIns="65680" rIns="65680" bIns="65680" rtlCol="0" anchor="ctr"/>
              <a:lstStyle/>
              <a:p>
                <a:pPr algn="ctr">
                  <a:lnSpc>
                    <a:spcPts val="2659"/>
                  </a:lnSpc>
                </a:pPr>
                <a:endParaRPr/>
              </a:p>
            </p:txBody>
          </p:sp>
        </p:grpSp>
        <p:grpSp>
          <p:nvGrpSpPr>
            <p:cNvPr id="28" name="Group 28"/>
            <p:cNvGrpSpPr/>
            <p:nvPr/>
          </p:nvGrpSpPr>
          <p:grpSpPr>
            <a:xfrm rot="2524381">
              <a:off x="3512264" y="5812823"/>
              <a:ext cx="20345509" cy="10343491"/>
              <a:chOff x="0" y="0"/>
              <a:chExt cx="2428403" cy="1234580"/>
            </a:xfrm>
          </p:grpSpPr>
          <p:sp>
            <p:nvSpPr>
              <p:cNvPr id="29" name="Freeform 29"/>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id="30" name="TextBox 30"/>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1" name="Group 31"/>
            <p:cNvGrpSpPr/>
            <p:nvPr/>
          </p:nvGrpSpPr>
          <p:grpSpPr>
            <a:xfrm rot="1662533">
              <a:off x="2276014" y="4965235"/>
              <a:ext cx="20345509" cy="10343491"/>
              <a:chOff x="0" y="0"/>
              <a:chExt cx="2428403" cy="1234580"/>
            </a:xfrm>
          </p:grpSpPr>
          <p:sp>
            <p:nvSpPr>
              <p:cNvPr id="32" name="Freeform 32"/>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id="33" name="TextBox 33"/>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4" name="Group 34"/>
            <p:cNvGrpSpPr/>
            <p:nvPr/>
          </p:nvGrpSpPr>
          <p:grpSpPr>
            <a:xfrm rot="3760735">
              <a:off x="4423045" y="7068132"/>
              <a:ext cx="20345509" cy="10343491"/>
              <a:chOff x="0" y="0"/>
              <a:chExt cx="2428403" cy="1234580"/>
            </a:xfrm>
          </p:grpSpPr>
          <p:sp>
            <p:nvSpPr>
              <p:cNvPr id="35" name="Freeform 35"/>
              <p:cNvSpPr/>
              <p:nvPr/>
            </p:nvSpPr>
            <p:spPr>
              <a:xfrm>
                <a:off x="0" y="0"/>
                <a:ext cx="2428403" cy="1234580"/>
              </a:xfrm>
              <a:custGeom>
                <a:avLst/>
                <a:gdLst/>
                <a:ahLst/>
                <a:cxnLst/>
                <a:rect l="l" t="t" r="r" b="b"/>
                <a:pathLst>
                  <a:path w="2428403" h="1234580">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id="36" name="TextBox 36"/>
              <p:cNvSpPr txBox="1"/>
              <p:nvPr/>
            </p:nvSpPr>
            <p:spPr>
              <a:xfrm>
                <a:off x="0" y="-38100"/>
                <a:ext cx="2428403" cy="1272680"/>
              </a:xfrm>
              <a:prstGeom prst="rect">
                <a:avLst/>
              </a:prstGeom>
            </p:spPr>
            <p:txBody>
              <a:bodyPr lIns="65680" tIns="65680" rIns="65680" bIns="65680" rtlCol="0" anchor="ctr"/>
              <a:lstStyle/>
              <a:p>
                <a:pPr algn="ctr">
                  <a:lnSpc>
                    <a:spcPts val="2659"/>
                  </a:lnSpc>
                </a:pPr>
                <a:endParaRPr/>
              </a:p>
            </p:txBody>
          </p:sp>
        </p:grpSp>
        <p:grpSp>
          <p:nvGrpSpPr>
            <p:cNvPr id="37" name="Group 37"/>
            <p:cNvGrpSpPr/>
            <p:nvPr/>
          </p:nvGrpSpPr>
          <p:grpSpPr>
            <a:xfrm rot="4726864">
              <a:off x="4952688" y="6965852"/>
              <a:ext cx="22696491" cy="10343491"/>
              <a:chOff x="0" y="0"/>
              <a:chExt cx="2709012" cy="1234580"/>
            </a:xfrm>
          </p:grpSpPr>
          <p:sp>
            <p:nvSpPr>
              <p:cNvPr id="38" name="Freeform 38"/>
              <p:cNvSpPr/>
              <p:nvPr/>
            </p:nvSpPr>
            <p:spPr>
              <a:xfrm>
                <a:off x="0" y="0"/>
                <a:ext cx="2709012" cy="1234580"/>
              </a:xfrm>
              <a:custGeom>
                <a:avLst/>
                <a:gdLst/>
                <a:ahLst/>
                <a:cxnLst/>
                <a:rect l="l" t="t" r="r" b="b"/>
                <a:pathLst>
                  <a:path w="2709012" h="1234580">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id="39" name="TextBox 39"/>
              <p:cNvSpPr txBox="1"/>
              <p:nvPr/>
            </p:nvSpPr>
            <p:spPr>
              <a:xfrm>
                <a:off x="0" y="-38100"/>
                <a:ext cx="2709012" cy="1272680"/>
              </a:xfrm>
              <a:prstGeom prst="rect">
                <a:avLst/>
              </a:prstGeom>
            </p:spPr>
            <p:txBody>
              <a:bodyPr lIns="65680" tIns="65680" rIns="65680" bIns="65680" rtlCol="0" anchor="ctr"/>
              <a:lstStyle/>
              <a:p>
                <a:pPr algn="ctr">
                  <a:lnSpc>
                    <a:spcPts val="2659"/>
                  </a:lnSpc>
                </a:pPr>
                <a:endParaRPr/>
              </a:p>
            </p:txBody>
          </p:sp>
        </p:grpSp>
      </p:grpSp>
      <p:sp>
        <p:nvSpPr>
          <p:cNvPr id="40" name="Freeform 40"/>
          <p:cNvSpPr/>
          <p:nvPr/>
        </p:nvSpPr>
        <p:spPr>
          <a:xfrm flipH="1">
            <a:off x="13332174" y="8570212"/>
            <a:ext cx="7315200" cy="2958662"/>
          </a:xfrm>
          <a:custGeom>
            <a:avLst/>
            <a:gdLst/>
            <a:ahLst/>
            <a:cxnLst/>
            <a:rect l="l" t="t" r="r" b="b"/>
            <a:pathLst>
              <a:path w="7315200" h="2958662">
                <a:moveTo>
                  <a:pt x="7315200" y="0"/>
                </a:moveTo>
                <a:lnTo>
                  <a:pt x="0" y="0"/>
                </a:lnTo>
                <a:lnTo>
                  <a:pt x="0" y="2958662"/>
                </a:lnTo>
                <a:lnTo>
                  <a:pt x="7315200" y="2958662"/>
                </a:lnTo>
                <a:lnTo>
                  <a:pt x="7315200" y="0"/>
                </a:lnTo>
                <a:close/>
              </a:path>
            </a:pathLst>
          </a:custGeom>
          <a:blipFill>
            <a:blip>
              <a:extLst>
                <a:ext uri="{96DAC541-7B7A-43D3-8B79-37D633B846F1}">
                  <asvg:svgBlip xmlns:asvg="http://schemas.microsoft.com/office/drawing/2016/SVG/main" r:embed="rId2"/>
                </a:ext>
              </a:extLst>
            </a:blip>
            <a:stretch>
              <a:fillRect/>
            </a:stretch>
          </a:blipFill>
        </p:spPr>
      </p:sp>
      <p:sp>
        <p:nvSpPr>
          <p:cNvPr id="41" name="Freeform 41"/>
          <p:cNvSpPr/>
          <p:nvPr/>
        </p:nvSpPr>
        <p:spPr>
          <a:xfrm flipV="1">
            <a:off x="-2359374" y="-1241874"/>
            <a:ext cx="7315200" cy="2958662"/>
          </a:xfrm>
          <a:custGeom>
            <a:avLst/>
            <a:gdLst/>
            <a:ahLst/>
            <a:cxnLst/>
            <a:rect l="l" t="t" r="r" b="b"/>
            <a:pathLst>
              <a:path w="7315200" h="2958662">
                <a:moveTo>
                  <a:pt x="0" y="2958662"/>
                </a:moveTo>
                <a:lnTo>
                  <a:pt x="7315200" y="2958662"/>
                </a:lnTo>
                <a:lnTo>
                  <a:pt x="7315200" y="0"/>
                </a:lnTo>
                <a:lnTo>
                  <a:pt x="0" y="0"/>
                </a:lnTo>
                <a:lnTo>
                  <a:pt x="0" y="2958662"/>
                </a:lnTo>
                <a:close/>
              </a:path>
            </a:pathLst>
          </a:custGeom>
          <a:blipFill>
            <a:blip>
              <a:extLst>
                <a:ext uri="{96DAC541-7B7A-43D3-8B79-37D633B846F1}">
                  <asvg:svgBlip xmlns:asvg="http://schemas.microsoft.com/office/drawing/2016/SVG/main" r:embed="rId2"/>
                </a:ext>
              </a:extLst>
            </a:blip>
            <a:stretch>
              <a:fillRect/>
            </a:stretch>
          </a:blipFill>
        </p:spPr>
      </p:sp>
      <p:pic>
        <p:nvPicPr>
          <p:cNvPr id="46" name="Picture 45">
            <a:extLst>
              <a:ext uri="{FF2B5EF4-FFF2-40B4-BE49-F238E27FC236}">
                <a16:creationId xmlns:a16="http://schemas.microsoft.com/office/drawing/2014/main" id="{B774C4D9-050E-C1EA-B462-7E6102464546}"/>
              </a:ext>
            </a:extLst>
          </p:cNvPr>
          <p:cNvPicPr>
            <a:picLocks noChangeAspect="1"/>
          </p:cNvPicPr>
          <p:nvPr/>
        </p:nvPicPr>
        <p:blipFill>
          <a:blip r:embed="rId3"/>
          <a:stretch>
            <a:fillRect/>
          </a:stretch>
        </p:blipFill>
        <p:spPr>
          <a:xfrm>
            <a:off x="912764" y="390440"/>
            <a:ext cx="15697200" cy="95414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grpSp>
        <p:nvGrpSpPr>
          <p:cNvPr id="2" name="Group 2"/>
          <p:cNvGrpSpPr/>
          <p:nvPr/>
        </p:nvGrpSpPr>
        <p:grpSpPr>
          <a:xfrm>
            <a:off x="-6771593" y="3707636"/>
            <a:ext cx="15080387" cy="13991462"/>
            <a:chOff x="0" y="0"/>
            <a:chExt cx="20107183" cy="18655282"/>
          </a:xfrm>
        </p:grpSpPr>
        <p:grpSp>
          <p:nvGrpSpPr>
            <p:cNvPr id="3" name="Group 3"/>
            <p:cNvGrpSpPr/>
            <p:nvPr/>
          </p:nvGrpSpPr>
          <p:grpSpPr>
            <a:xfrm rot="-7039264">
              <a:off x="-51757" y="4826220"/>
              <a:ext cx="15736054" cy="8000082"/>
              <a:chOff x="0" y="0"/>
              <a:chExt cx="2428403" cy="1234580"/>
            </a:xfrm>
          </p:grpSpPr>
          <p:sp>
            <p:nvSpPr>
              <p:cNvPr id="4" name="Freeform 4"/>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5" name="TextBox 5"/>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7695759">
              <a:off x="855878" y="6000328"/>
              <a:ext cx="15736054" cy="8000082"/>
              <a:chOff x="0" y="0"/>
              <a:chExt cx="2428403" cy="1234580"/>
            </a:xfrm>
          </p:grpSpPr>
          <p:sp>
            <p:nvSpPr>
              <p:cNvPr id="7" name="Freeform 7"/>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8" name="TextBox 8"/>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2862850" y="7660428"/>
              <a:ext cx="15929244" cy="1244940"/>
              <a:chOff x="0" y="0"/>
              <a:chExt cx="2168064" cy="169444"/>
            </a:xfrm>
          </p:grpSpPr>
          <p:sp>
            <p:nvSpPr>
              <p:cNvPr id="10" name="Freeform 10"/>
              <p:cNvSpPr/>
              <p:nvPr/>
            </p:nvSpPr>
            <p:spPr>
              <a:xfrm>
                <a:off x="0" y="0"/>
                <a:ext cx="2168064" cy="169444"/>
              </a:xfrm>
              <a:custGeom>
                <a:avLst/>
                <a:gdLst/>
                <a:ahLst/>
                <a:cxnLst/>
                <a:rect l="l" t="t" r="r" b="b"/>
                <a:pathLst>
                  <a:path w="2168064" h="169444">
                    <a:moveTo>
                      <a:pt x="1964864" y="0"/>
                    </a:moveTo>
                    <a:lnTo>
                      <a:pt x="0" y="0"/>
                    </a:lnTo>
                    <a:lnTo>
                      <a:pt x="203200" y="169444"/>
                    </a:lnTo>
                    <a:lnTo>
                      <a:pt x="2168064" y="169444"/>
                    </a:lnTo>
                    <a:lnTo>
                      <a:pt x="1964864" y="0"/>
                    </a:lnTo>
                    <a:close/>
                  </a:path>
                </a:pathLst>
              </a:custGeom>
              <a:solidFill>
                <a:srgbClr val="3199CE">
                  <a:alpha val="43922"/>
                </a:srgbClr>
              </a:solidFill>
            </p:spPr>
          </p:sp>
          <p:sp>
            <p:nvSpPr>
              <p:cNvPr id="11" name="TextBox 11"/>
              <p:cNvSpPr txBox="1"/>
              <p:nvPr/>
            </p:nvSpPr>
            <p:spPr>
              <a:xfrm>
                <a:off x="101600" y="-38100"/>
                <a:ext cx="1964864" cy="20754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rot="-9924151">
              <a:off x="3616989" y="7136549"/>
              <a:ext cx="15736054" cy="8000082"/>
              <a:chOff x="0" y="0"/>
              <a:chExt cx="2428403" cy="1234580"/>
            </a:xfrm>
          </p:grpSpPr>
          <p:sp>
            <p:nvSpPr>
              <p:cNvPr id="13" name="Freeform 1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14" name="TextBox 1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8275618">
              <a:off x="652678" y="5797128"/>
              <a:ext cx="15736054" cy="8000082"/>
              <a:chOff x="0" y="0"/>
              <a:chExt cx="2428403" cy="1234580"/>
            </a:xfrm>
          </p:grpSpPr>
          <p:sp>
            <p:nvSpPr>
              <p:cNvPr id="16" name="Freeform 16"/>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17" name="TextBox 17"/>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9137466">
              <a:off x="1608845" y="6452687"/>
              <a:ext cx="15736054" cy="8000082"/>
              <a:chOff x="0" y="0"/>
              <a:chExt cx="2428403" cy="1234580"/>
            </a:xfrm>
          </p:grpSpPr>
          <p:sp>
            <p:nvSpPr>
              <p:cNvPr id="19" name="Freeform 19"/>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20" name="TextBox 20"/>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sp>
        <p:nvSpPr>
          <p:cNvPr id="21" name="TextBox 21"/>
          <p:cNvSpPr txBox="1"/>
          <p:nvPr/>
        </p:nvSpPr>
        <p:spPr>
          <a:xfrm>
            <a:off x="1984843" y="4047352"/>
            <a:ext cx="14318314" cy="1973222"/>
          </a:xfrm>
          <a:prstGeom prst="rect">
            <a:avLst/>
          </a:prstGeom>
        </p:spPr>
        <p:txBody>
          <a:bodyPr lIns="0" tIns="0" rIns="0" bIns="0" rtlCol="0" anchor="t">
            <a:spAutoFit/>
          </a:bodyPr>
          <a:lstStyle/>
          <a:p>
            <a:pPr algn="ctr">
              <a:lnSpc>
                <a:spcPts val="16189"/>
              </a:lnSpc>
            </a:pPr>
            <a:r>
              <a:rPr lang="en-US" sz="11564" b="1">
                <a:solidFill>
                  <a:srgbClr val="113E7A"/>
                </a:solidFill>
                <a:latin typeface="Muli Ultra-Bold"/>
                <a:ea typeface="Muli Ultra-Bold"/>
                <a:cs typeface="Muli Ultra-Bold"/>
                <a:sym typeface="Muli Ultra-Bold"/>
              </a:rPr>
              <a:t>THANK YOU</a:t>
            </a:r>
          </a:p>
        </p:txBody>
      </p:sp>
      <p:grpSp>
        <p:nvGrpSpPr>
          <p:cNvPr id="22" name="Group 22"/>
          <p:cNvGrpSpPr/>
          <p:nvPr/>
        </p:nvGrpSpPr>
        <p:grpSpPr>
          <a:xfrm rot="-10800000">
            <a:off x="9979206" y="-7412098"/>
            <a:ext cx="15080387" cy="13991462"/>
            <a:chOff x="0" y="0"/>
            <a:chExt cx="20107183" cy="18655282"/>
          </a:xfrm>
        </p:grpSpPr>
        <p:grpSp>
          <p:nvGrpSpPr>
            <p:cNvPr id="23" name="Group 23"/>
            <p:cNvGrpSpPr/>
            <p:nvPr/>
          </p:nvGrpSpPr>
          <p:grpSpPr>
            <a:xfrm rot="-7039264">
              <a:off x="-51757" y="4826220"/>
              <a:ext cx="15736054" cy="8000082"/>
              <a:chOff x="0" y="0"/>
              <a:chExt cx="2428403" cy="1234580"/>
            </a:xfrm>
          </p:grpSpPr>
          <p:sp>
            <p:nvSpPr>
              <p:cNvPr id="24" name="Freeform 24"/>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25" name="TextBox 25"/>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7695759">
              <a:off x="855878" y="6000328"/>
              <a:ext cx="15736054" cy="8000082"/>
              <a:chOff x="0" y="0"/>
              <a:chExt cx="2428403" cy="1234580"/>
            </a:xfrm>
          </p:grpSpPr>
          <p:sp>
            <p:nvSpPr>
              <p:cNvPr id="27" name="Freeform 27"/>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28" name="TextBox 28"/>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2862850" y="7660428"/>
              <a:ext cx="15929244" cy="1244940"/>
              <a:chOff x="0" y="0"/>
              <a:chExt cx="2168064" cy="169444"/>
            </a:xfrm>
          </p:grpSpPr>
          <p:sp>
            <p:nvSpPr>
              <p:cNvPr id="30" name="Freeform 30"/>
              <p:cNvSpPr/>
              <p:nvPr/>
            </p:nvSpPr>
            <p:spPr>
              <a:xfrm>
                <a:off x="0" y="0"/>
                <a:ext cx="2168064" cy="169444"/>
              </a:xfrm>
              <a:custGeom>
                <a:avLst/>
                <a:gdLst/>
                <a:ahLst/>
                <a:cxnLst/>
                <a:rect l="l" t="t" r="r" b="b"/>
                <a:pathLst>
                  <a:path w="2168064" h="169444">
                    <a:moveTo>
                      <a:pt x="1964864" y="0"/>
                    </a:moveTo>
                    <a:lnTo>
                      <a:pt x="0" y="0"/>
                    </a:lnTo>
                    <a:lnTo>
                      <a:pt x="203200" y="169444"/>
                    </a:lnTo>
                    <a:lnTo>
                      <a:pt x="2168064" y="169444"/>
                    </a:lnTo>
                    <a:lnTo>
                      <a:pt x="1964864" y="0"/>
                    </a:lnTo>
                    <a:close/>
                  </a:path>
                </a:pathLst>
              </a:custGeom>
              <a:solidFill>
                <a:srgbClr val="3199CE">
                  <a:alpha val="43922"/>
                </a:srgbClr>
              </a:solidFill>
            </p:spPr>
          </p:sp>
          <p:sp>
            <p:nvSpPr>
              <p:cNvPr id="31" name="TextBox 31"/>
              <p:cNvSpPr txBox="1"/>
              <p:nvPr/>
            </p:nvSpPr>
            <p:spPr>
              <a:xfrm>
                <a:off x="101600" y="-38100"/>
                <a:ext cx="1964864" cy="20754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rot="-9924151">
              <a:off x="3616989" y="7136549"/>
              <a:ext cx="15736054" cy="8000082"/>
              <a:chOff x="0" y="0"/>
              <a:chExt cx="2428403" cy="1234580"/>
            </a:xfrm>
          </p:grpSpPr>
          <p:sp>
            <p:nvSpPr>
              <p:cNvPr id="33" name="Freeform 33"/>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id="34" name="TextBox 34"/>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rot="-8275618">
              <a:off x="652678" y="5797128"/>
              <a:ext cx="15736054" cy="8000082"/>
              <a:chOff x="0" y="0"/>
              <a:chExt cx="2428403" cy="1234580"/>
            </a:xfrm>
          </p:grpSpPr>
          <p:sp>
            <p:nvSpPr>
              <p:cNvPr id="36" name="Freeform 36"/>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id="37" name="TextBox 37"/>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rot="-9137466">
              <a:off x="1608845" y="6452687"/>
              <a:ext cx="15736054" cy="8000082"/>
              <a:chOff x="0" y="0"/>
              <a:chExt cx="2428403" cy="1234580"/>
            </a:xfrm>
          </p:grpSpPr>
          <p:sp>
            <p:nvSpPr>
              <p:cNvPr id="39" name="Freeform 39"/>
              <p:cNvSpPr/>
              <p:nvPr/>
            </p:nvSpPr>
            <p:spPr>
              <a:xfrm>
                <a:off x="0" y="0"/>
                <a:ext cx="2428403" cy="1234580"/>
              </a:xfrm>
              <a:custGeom>
                <a:avLst/>
                <a:gdLst/>
                <a:ahLst/>
                <a:cxnLst/>
                <a:rect l="l" t="t" r="r" b="b"/>
                <a:pathLst>
                  <a:path w="2428403" h="1234580">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id="40" name="TextBox 40"/>
              <p:cNvSpPr txBox="1"/>
              <p:nvPr/>
            </p:nvSpPr>
            <p:spPr>
              <a:xfrm>
                <a:off x="0" y="-38100"/>
                <a:ext cx="2428403" cy="1272680"/>
              </a:xfrm>
              <a:prstGeom prst="rect">
                <a:avLst/>
              </a:prstGeom>
            </p:spPr>
            <p:txBody>
              <a:bodyPr lIns="50800" tIns="50800" rIns="50800" bIns="50800" rtlCol="0" anchor="ctr"/>
              <a:lstStyle/>
              <a:p>
                <a:pPr algn="ctr">
                  <a:lnSpc>
                    <a:spcPts val="2659"/>
                  </a:lnSpc>
                </a:pPr>
                <a:endParaRPr/>
              </a:p>
            </p:txBody>
          </p:sp>
        </p:grpSp>
      </p:grpSp>
      <p:sp>
        <p:nvSpPr>
          <p:cNvPr id="41" name="Freeform 41"/>
          <p:cNvSpPr/>
          <p:nvPr/>
        </p:nvSpPr>
        <p:spPr>
          <a:xfrm flipV="1">
            <a:off x="0" y="0"/>
            <a:ext cx="7590520" cy="3345875"/>
          </a:xfrm>
          <a:custGeom>
            <a:avLst/>
            <a:gdLst/>
            <a:ahLst/>
            <a:cxnLst/>
            <a:rect l="l" t="t" r="r" b="b"/>
            <a:pathLst>
              <a:path w="7590520" h="3345875">
                <a:moveTo>
                  <a:pt x="0" y="3345875"/>
                </a:moveTo>
                <a:lnTo>
                  <a:pt x="7590520" y="3345875"/>
                </a:lnTo>
                <a:lnTo>
                  <a:pt x="7590520" y="0"/>
                </a:lnTo>
                <a:lnTo>
                  <a:pt x="0" y="0"/>
                </a:lnTo>
                <a:lnTo>
                  <a:pt x="0" y="3345875"/>
                </a:lnTo>
                <a:close/>
              </a:path>
            </a:pathLst>
          </a:custGeom>
          <a:blipFill>
            <a:blip>
              <a:extLst>
                <a:ext uri="{96DAC541-7B7A-43D3-8B79-37D633B846F1}">
                  <asvg:svgBlip xmlns:asvg="http://schemas.microsoft.com/office/drawing/2016/SVG/main" r:embed="rId2"/>
                </a:ext>
              </a:extLst>
            </a:blip>
            <a:stretch>
              <a:fillRect/>
            </a:stretch>
          </a:blipFill>
        </p:spPr>
      </p:sp>
      <p:sp>
        <p:nvSpPr>
          <p:cNvPr id="42" name="Freeform 42"/>
          <p:cNvSpPr/>
          <p:nvPr/>
        </p:nvSpPr>
        <p:spPr>
          <a:xfrm rot="-10800000" flipV="1">
            <a:off x="10697480" y="6941125"/>
            <a:ext cx="7590520" cy="3345875"/>
          </a:xfrm>
          <a:custGeom>
            <a:avLst/>
            <a:gdLst/>
            <a:ahLst/>
            <a:cxnLst/>
            <a:rect l="l" t="t" r="r" b="b"/>
            <a:pathLst>
              <a:path w="7590520" h="3345875">
                <a:moveTo>
                  <a:pt x="0" y="3345875"/>
                </a:moveTo>
                <a:lnTo>
                  <a:pt x="7590520" y="3345875"/>
                </a:lnTo>
                <a:lnTo>
                  <a:pt x="7590520" y="0"/>
                </a:lnTo>
                <a:lnTo>
                  <a:pt x="0" y="0"/>
                </a:lnTo>
                <a:lnTo>
                  <a:pt x="0" y="3345875"/>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337</Words>
  <Application>Microsoft Office PowerPoint</Application>
  <PresentationFormat>Custom</PresentationFormat>
  <Paragraphs>26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Muli</vt:lpstr>
      <vt:lpstr>Arial</vt:lpstr>
      <vt:lpstr>Muli Ultra-Bold</vt:lpstr>
      <vt:lpstr>Muli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Futuristic Minimalist Project Presentation</dc:title>
  <dc:creator>Administrator</dc:creator>
  <cp:lastModifiedBy>abhinayamohitha@outlook.com</cp:lastModifiedBy>
  <cp:revision>4</cp:revision>
  <dcterms:created xsi:type="dcterms:W3CDTF">2006-08-16T00:00:00Z</dcterms:created>
  <dcterms:modified xsi:type="dcterms:W3CDTF">2026-10-28T04:15:23Z</dcterms:modified>
  <dc:identifier>DAHSKYcWiZ0</dc:identifier>
</cp:coreProperties>
</file>